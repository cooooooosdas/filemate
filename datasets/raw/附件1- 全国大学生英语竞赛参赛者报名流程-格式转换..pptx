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5400000" cy="1428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9" Type="http://schemas.openxmlformats.org/officeDocument/2006/relationships/viewProps" Target="viewProps.xml"/><Relationship Id="rId18" Type="http://schemas.openxmlformats.org/officeDocument/2006/relationships/tableStyles" Target="tableStyles.xml"/><Relationship Id="rId17" Type="http://schemas.openxmlformats.org/officeDocument/2006/relationships/presProps" Target="presProps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hyperlink" Target="https://www.saikr.com/neccs/2026" TargetMode="External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5" Type="http://schemas.openxmlformats.org/officeDocument/2006/relationships/image" Target="../media/image17.png"/><Relationship Id="rId14" Type="http://schemas.openxmlformats.org/officeDocument/2006/relationships/image" Target="../media/image16.jpeg"/><Relationship Id="rId13" Type="http://schemas.openxmlformats.org/officeDocument/2006/relationships/image" Target="../media/image15.jpeg"/><Relationship Id="rId12" Type="http://schemas.openxmlformats.org/officeDocument/2006/relationships/image" Target="../media/image14.jpeg"/><Relationship Id="rId11" Type="http://schemas.openxmlformats.org/officeDocument/2006/relationships/image" Target="../media/image13.jpeg"/><Relationship Id="rId10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7.jpe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7" Type="http://schemas.openxmlformats.org/officeDocument/2006/relationships/image" Target="../media/image33.jpeg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image" Target="../media/image38.jpeg"/><Relationship Id="rId4" Type="http://schemas.openxmlformats.org/officeDocument/2006/relationships/image" Target="../media/image37.jpeg"/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16.jpeg"/><Relationship Id="rId7" Type="http://schemas.openxmlformats.org/officeDocument/2006/relationships/image" Target="../media/image43.jpeg"/><Relationship Id="rId6" Type="http://schemas.openxmlformats.org/officeDocument/2006/relationships/image" Target="../media/image42.jpeg"/><Relationship Id="rId5" Type="http://schemas.openxmlformats.org/officeDocument/2006/relationships/hyperlink" Target="https://www.saikr.com/neccs/2026" TargetMode="External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jpe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0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jpeg"/><Relationship Id="rId8" Type="http://schemas.openxmlformats.org/officeDocument/2006/relationships/image" Target="../media/image62.jpeg"/><Relationship Id="rId7" Type="http://schemas.openxmlformats.org/officeDocument/2006/relationships/image" Target="../media/image61.jpeg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jpeg"/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1.jpeg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70.jpeg"/><Relationship Id="rId4" Type="http://schemas.openxmlformats.org/officeDocument/2006/relationships/image" Target="../media/image69.jpeg"/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76.png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9.jpeg"/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50" y="2711481"/>
            <a:ext cx="4705350" cy="1004568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545550" y="2419301"/>
            <a:ext cx="3835400" cy="11734895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7331726" y="4239686"/>
            <a:ext cx="10716894" cy="2812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9100" b="1" kern="0" spc="210" dirty="0">
                <a:solidFill>
                  <a:srgbClr val="2080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全国大学生英语竞赛</a:t>
            </a:r>
            <a:endParaRPr sz="9100" dirty="0">
              <a:latin typeface="SimSun"/>
              <a:ea typeface="SimSun"/>
              <a:cs typeface="SimSun"/>
            </a:endParaRPr>
          </a:p>
          <a:p>
            <a:pPr marL="1199514" algn="l" rtl="0" eaLnBrk="0">
              <a:lnSpc>
                <a:spcPts val="12850"/>
              </a:lnSpc>
              <a:tabLst/>
            </a:pPr>
            <a:r>
              <a:rPr sz="9100" b="1" kern="0" spc="180" dirty="0">
                <a:solidFill>
                  <a:srgbClr val="2080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参赛者报名流程</a:t>
            </a:r>
            <a:endParaRPr sz="9100" dirty="0">
              <a:latin typeface="SimSun"/>
              <a:ea typeface="SimSun"/>
              <a:cs typeface="SimSun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290300" y="8845534"/>
            <a:ext cx="1193800" cy="1187434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2615191" y="8979919"/>
            <a:ext cx="1525905" cy="1012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5700" b="1" kern="0" spc="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5700" dirty="0">
              <a:latin typeface="SimHei"/>
              <a:ea typeface="SimHei"/>
              <a:cs typeface="SimHei"/>
            </a:endParaRPr>
          </a:p>
          <a:p>
            <a:pPr marL="27305" algn="l" rtl="0" eaLnBrk="0">
              <a:lnSpc>
                <a:spcPct val="79000"/>
              </a:lnSpc>
              <a:spcBef>
                <a:spcPts val="22"/>
              </a:spcBef>
              <a:tabLst/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Saikr</a:t>
            </a:r>
            <a:r>
              <a:rPr sz="21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</a:t>
            </a:r>
            <a:endParaRPr sz="2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534400" y="4324395"/>
            <a:ext cx="4514850" cy="8953406"/>
            <a:chOff x="0" y="0"/>
            <a:chExt cx="4514850" cy="8953406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514850" cy="8953406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-12700" y="-12700"/>
              <a:ext cx="4540250" cy="89966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87350" algn="l" rtl="0" eaLnBrk="0">
                <a:lnSpc>
                  <a:spcPct val="96000"/>
                </a:lnSpc>
                <a:spcBef>
                  <a:spcPts val="7"/>
                </a:spcBef>
                <a:tabLst/>
              </a:pPr>
              <a:r>
                <a:rPr sz="1000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Q</a:t>
              </a:r>
              <a:r>
                <a:rPr sz="10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000" kern="0" spc="11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请输入你感兴趣的内容~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80365" algn="l" rtl="0" eaLnBrk="0">
                <a:lnSpc>
                  <a:spcPct val="100000"/>
                </a:lnSpc>
                <a:spcBef>
                  <a:spcPts val="338"/>
                </a:spcBef>
                <a:tabLst/>
              </a:pP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看榜单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发现竞赛</a:t>
              </a:r>
              <a:r>
                <a:rPr sz="10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精彩活动</a:t>
              </a:r>
              <a:r>
                <a:rPr sz="10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查成绩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</a:t>
              </a: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验证书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36575" algn="l" rtl="0" eaLnBrk="0">
                <a:lnSpc>
                  <a:spcPct val="98000"/>
                </a:lnSpc>
                <a:spcBef>
                  <a:spcPts val="551"/>
                </a:spcBef>
                <a:tabLst/>
              </a:pPr>
              <a:r>
                <a:rPr sz="1800" b="1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推荐竞赛</a:t>
              </a:r>
              <a:r>
                <a:rPr sz="18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   </a:t>
              </a:r>
              <a:r>
                <a:rPr sz="1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600" kern="0" spc="-30" baseline="6511" dirty="0">
                  <a:solidFill>
                    <a:srgbClr val="000000">
                      <a:alpha val="100000"/>
                    </a:srgbClr>
                  </a:solidFill>
                  <a:latin typeface="LiSu"/>
                  <a:ea typeface="LiSu"/>
                  <a:cs typeface="LiSu"/>
                </a:rPr>
                <a:t>更</a:t>
              </a:r>
              <a:r>
                <a:rPr sz="1000" kern="0" spc="-100" dirty="0">
                  <a:solidFill>
                    <a:srgbClr val="000000">
                      <a:alpha val="100000"/>
                    </a:srgbClr>
                  </a:solidFill>
                  <a:latin typeface="LiSu"/>
                  <a:ea typeface="LiSu"/>
                  <a:cs typeface="LiSu"/>
                </a:rPr>
                <a:t> </a:t>
              </a:r>
              <a:r>
                <a:rPr sz="1600" kern="0" spc="-30" baseline="6511" dirty="0">
                  <a:solidFill>
                    <a:srgbClr val="D04080">
                      <a:alpha val="100000"/>
                    </a:srgbClr>
                  </a:solidFill>
                  <a:latin typeface="LiSu"/>
                  <a:ea typeface="LiSu"/>
                  <a:cs typeface="LiSu"/>
                </a:rPr>
                <a:t>多</a:t>
              </a:r>
              <a:endParaRPr sz="1600" baseline="6511" dirty="0">
                <a:latin typeface="LiSu"/>
                <a:ea typeface="LiSu"/>
                <a:cs typeface="LiSu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18514" algn="l" rtl="0" eaLnBrk="0">
                <a:lnSpc>
                  <a:spcPct val="99000"/>
                </a:lnSpc>
                <a:spcBef>
                  <a:spcPts val="331"/>
                </a:spcBef>
                <a:tabLst/>
              </a:pPr>
              <a:r>
                <a:rPr sz="1100" kern="0" spc="80" dirty="0">
                  <a:solidFill>
                    <a:srgbClr val="F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柯“海</a:t>
              </a:r>
              <a:r>
                <a:rPr sz="1100" kern="0" spc="-310" dirty="0">
                  <a:solidFill>
                    <a:srgbClr val="F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8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刚刚报名了</a:t>
              </a:r>
              <a:r>
                <a:rPr sz="1100" kern="0" spc="80" dirty="0">
                  <a:solidFill>
                    <a:srgbClr val="F08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2025年全国大学</a:t>
              </a:r>
              <a:r>
                <a:rPr sz="1100" kern="0" spc="70" dirty="0">
                  <a:solidFill>
                    <a:srgbClr val="F08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生心理学…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580514" algn="l" rtl="0" eaLnBrk="0">
                <a:lnSpc>
                  <a:spcPct val="95000"/>
                </a:lnSpc>
                <a:spcBef>
                  <a:spcPts val="1536"/>
                </a:spcBef>
                <a:tabLst/>
              </a:pP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【大英赛主办方】2025年全国大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</a:t>
              </a: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学生英语翻译大赛</a:t>
              </a: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·</a:t>
              </a: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NETCCS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581150" algn="l" rtl="0" eaLnBrk="0">
                <a:lnSpc>
                  <a:spcPct val="96000"/>
                </a:lnSpc>
                <a:spcBef>
                  <a:spcPts val="650"/>
                </a:spcBef>
                <a:tabLst/>
              </a:pPr>
              <a:r>
                <a:rPr sz="1000" kern="0" spc="-40" dirty="0">
                  <a:solidFill>
                    <a:srgbClr val="F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热门竞赛</a:t>
              </a:r>
              <a:r>
                <a:rPr sz="1000" kern="0" spc="-40" dirty="0">
                  <a:solidFill>
                    <a:srgbClr val="F0802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TOP1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marL="1581150" algn="l" rtl="0" eaLnBrk="0">
                <a:lnSpc>
                  <a:spcPct val="100000"/>
                </a:lnSpc>
                <a:spcBef>
                  <a:spcPts val="311"/>
                </a:spcBef>
                <a:tabLst/>
              </a:pPr>
              <a:r>
                <a:rPr sz="1000" kern="0" spc="1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报名时间：2025.09.02-2025.12.10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0514" algn="l" rtl="0" eaLnBrk="0">
                <a:lnSpc>
                  <a:spcPct val="98000"/>
                </a:lnSpc>
                <a:spcBef>
                  <a:spcPts val="427"/>
                </a:spcBef>
                <a:tabLst/>
              </a:pPr>
              <a:r>
                <a:rPr sz="14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【</a:t>
              </a:r>
              <a:r>
                <a:rPr sz="14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CATTI</a:t>
              </a:r>
              <a:r>
                <a:rPr sz="14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主办】2025年第三届</a:t>
              </a:r>
              <a:r>
                <a:rPr sz="14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多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583055" algn="l" rtl="0" eaLnBrk="0">
                <a:lnSpc>
                  <a:spcPct val="99000"/>
                </a:lnSpc>
                <a:spcBef>
                  <a:spcPts val="122"/>
                </a:spcBef>
                <a:tabLst/>
              </a:pPr>
              <a:r>
                <a:rPr sz="1200" b="1" kern="0" spc="1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语种词汇大赛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1581150" algn="l" rtl="0" eaLnBrk="0">
                <a:lnSpc>
                  <a:spcPts val="973"/>
                </a:lnSpc>
                <a:spcBef>
                  <a:spcPts val="685"/>
                </a:spcBef>
                <a:tabLst/>
              </a:pPr>
              <a:r>
                <a:rPr sz="800" kern="0" spc="10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581150" algn="l" rtl="0" eaLnBrk="0">
                <a:lnSpc>
                  <a:spcPct val="100000"/>
                </a:lnSpc>
                <a:spcBef>
                  <a:spcPts val="639"/>
                </a:spcBef>
                <a:tabLst/>
              </a:pPr>
              <a:r>
                <a:rPr sz="1000" kern="0" spc="1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报名时间：2025.10.28-2025.11.23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1150" algn="l" rtl="0" eaLnBrk="0">
                <a:lnSpc>
                  <a:spcPct val="88000"/>
                </a:lnSpc>
                <a:spcBef>
                  <a:spcPts val="363"/>
                </a:spcBef>
                <a:tabLst/>
              </a:pP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2025年第五届《英语世男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1581150" algn="l" rtl="0" eaLnBrk="0">
                <a:lnSpc>
                  <a:spcPts val="1456"/>
                </a:lnSpc>
                <a:tabLst/>
              </a:pP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全国大学生翻译大赛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1580514" algn="l" rtl="0" eaLnBrk="0">
                <a:lnSpc>
                  <a:spcPts val="970"/>
                </a:lnSpc>
                <a:spcBef>
                  <a:spcPts val="1165"/>
                </a:spcBef>
                <a:tabLst/>
              </a:pPr>
              <a:r>
                <a:rPr sz="800" kern="0" spc="120" dirty="0">
                  <a:solidFill>
                    <a:srgbClr val="F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热门竞赛</a:t>
              </a:r>
              <a:r>
                <a:rPr sz="800" kern="0" spc="0" dirty="0">
                  <a:solidFill>
                    <a:srgbClr val="F0802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</a:t>
              </a:r>
              <a:r>
                <a:rPr sz="800" kern="0" spc="120" dirty="0">
                  <a:solidFill>
                    <a:srgbClr val="F0802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1582419" algn="l" rtl="0" eaLnBrk="0">
                <a:lnSpc>
                  <a:spcPct val="96000"/>
                </a:lnSpc>
                <a:spcBef>
                  <a:spcPts val="75"/>
                </a:spcBef>
                <a:tabLst/>
              </a:pPr>
              <a:r>
                <a:rPr sz="1000" b="1" kern="0" spc="-1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</a:t>
              </a:r>
              <a:r>
                <a:rPr sz="1000" kern="0" spc="-1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2025.08.18-2025.</a:t>
              </a:r>
              <a:r>
                <a:rPr sz="1000" kern="0" spc="-2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12.</a:t>
              </a:r>
              <a:r>
                <a:rPr sz="1000" kern="0" spc="48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000" kern="0" spc="-20" dirty="0">
                  <a:solidFill>
                    <a:srgbClr val="707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</a:t>
              </a:r>
              <a:endParaRPr sz="10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516100" y="11093386"/>
            <a:ext cx="1054100" cy="876395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503400" y="6654831"/>
            <a:ext cx="1079500" cy="882681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516100" y="10001250"/>
            <a:ext cx="1054100" cy="863536"/>
          </a:xfrm>
          <a:prstGeom prst="rect">
            <a:avLst/>
          </a:prstGeom>
        </p:spPr>
      </p:pic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14458950" y="5499116"/>
          <a:ext cx="4039869" cy="7626350"/>
        </p:xfrm>
        <a:graphic>
          <a:graphicData uri="http://schemas.openxmlformats.org/drawingml/2006/table">
            <a:tbl>
              <a:tblPr/>
              <a:tblGrid>
                <a:gridCol w="1190625"/>
                <a:gridCol w="2849245"/>
              </a:tblGrid>
              <a:tr h="7626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学生英语竞</a:t>
                      </a:r>
                      <a:r>
                        <a:rPr sz="1200" kern="0" spc="160" dirty="0">
                          <a:solidFill>
                            <a:srgbClr val="C0C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赛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69" algn="l" rtl="0" eaLnBrk="0">
                        <a:lnSpc>
                          <a:spcPts val="9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800" b="1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国大学生英语竞赛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F0C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学生英语竞赛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2025年</a:t>
                      </a:r>
                      <a:r>
                        <a:rPr sz="1400" kern="0" spc="12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全国大学生英语竞赛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925" algn="l" rtl="0" eaLnBrk="0">
                        <a:lnSpc>
                          <a:spcPts val="973"/>
                        </a:lnSpc>
                        <a:spcBef>
                          <a:spcPts val="81"/>
                        </a:spcBef>
                        <a:tabLst/>
                      </a:pPr>
                      <a:r>
                        <a:rPr sz="800" kern="0" spc="1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火热报名中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100000"/>
                        </a:lnSpc>
                        <a:spcBef>
                          <a:spcPts val="337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报名时间：2025.01.02-202</a:t>
                      </a:r>
                      <a:r>
                        <a:rPr sz="1100" kern="0" spc="-1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5.03.17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92000"/>
                        </a:lnSpc>
                        <a:spcBef>
                          <a:spcPts val="427"/>
                        </a:spcBef>
                        <a:tabLst/>
                      </a:pP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2024年</a:t>
                      </a:r>
                      <a:r>
                        <a:rPr sz="1400" kern="0" spc="12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全国大学生英语竞赛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290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40" dirty="0">
                          <a:solidFill>
                            <a:srgbClr val="F03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火热报名中</a:t>
                      </a:r>
                      <a:endParaRPr sz="10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100000"/>
                        </a:lnSpc>
                        <a:spcBef>
                          <a:spcPts val="33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报名时间：2023.12.15-2024.</a:t>
                      </a:r>
                      <a:r>
                        <a:rPr sz="1100" kern="0" spc="-2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03.17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98000"/>
                        </a:lnSpc>
                        <a:spcBef>
                          <a:spcPts val="421"/>
                        </a:spcBef>
                        <a:tabLst/>
                      </a:pP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2023年</a:t>
                      </a:r>
                      <a:r>
                        <a:rPr sz="1400" kern="0" spc="12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全国大学生英语竞赛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925" algn="l" rtl="0" eaLnBrk="0">
                        <a:lnSpc>
                          <a:spcPts val="973"/>
                        </a:lnSpc>
                        <a:spcBef>
                          <a:spcPts val="131"/>
                        </a:spcBef>
                        <a:tabLst/>
                      </a:pPr>
                      <a:r>
                        <a:rPr sz="800" kern="0" spc="100" dirty="0">
                          <a:solidFill>
                            <a:srgbClr val="E04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火</a:t>
                      </a:r>
                      <a:r>
                        <a:rPr sz="800" kern="0" spc="-170" dirty="0">
                          <a:solidFill>
                            <a:srgbClr val="E04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800" kern="0" spc="100" dirty="0">
                          <a:solidFill>
                            <a:srgbClr val="F03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热报名中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" algn="l" rtl="0" eaLnBrk="0">
                        <a:lnSpc>
                          <a:spcPct val="96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报名时间：2023.02.11-2023.04.09</a:t>
                      </a:r>
                      <a:endParaRPr sz="10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98000"/>
                        </a:lnSpc>
                        <a:spcBef>
                          <a:spcPts val="423"/>
                        </a:spcBef>
                        <a:tabLst/>
                      </a:pP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2022年</a:t>
                      </a:r>
                      <a:r>
                        <a:rPr sz="1400" kern="0" spc="12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全国大学生英语竞赛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925" algn="l" rtl="0" eaLnBrk="0">
                        <a:lnSpc>
                          <a:spcPts val="973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800" kern="0" spc="140" dirty="0">
                          <a:solidFill>
                            <a:srgbClr val="F03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火热报名中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100000"/>
                        </a:lnSpc>
                        <a:spcBef>
                          <a:spcPts val="337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报名时间：2021.12.15-2022.0</a:t>
                      </a:r>
                      <a:r>
                        <a:rPr sz="1100" kern="0" spc="-2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4.15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106000"/>
                        </a:lnSpc>
                        <a:spcBef>
                          <a:spcPts val="420"/>
                        </a:spcBef>
                        <a:tabLst/>
                      </a:pPr>
                      <a:r>
                        <a:rPr sz="1400" kern="0" spc="80" dirty="0">
                          <a:solidFill>
                            <a:srgbClr val="10C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全国大学生英语竞赛</a:t>
                      </a:r>
                      <a:r>
                        <a:rPr sz="14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菁英志愿者全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国招募(第二期)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925" algn="l" rtl="0" eaLnBrk="0">
                        <a:lnSpc>
                          <a:spcPts val="973"/>
                        </a:lnSpc>
                        <a:spcBef>
                          <a:spcPts val="420"/>
                        </a:spcBef>
                        <a:tabLst/>
                      </a:pPr>
                      <a:r>
                        <a:rPr sz="800" kern="0" spc="140" dirty="0">
                          <a:solidFill>
                            <a:srgbClr val="F03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火热报名中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290" algn="l" rtl="0" eaLnBrk="0">
                        <a:lnSpc>
                          <a:spcPct val="96000"/>
                        </a:lnSpc>
                        <a:spcBef>
                          <a:spcPts val="73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报名时间：2021.03.09-2021.04.10</a:t>
                      </a:r>
                      <a:endParaRPr sz="10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94000"/>
                        </a:lnSpc>
                        <a:spcBef>
                          <a:spcPts val="427"/>
                        </a:spcBef>
                        <a:tabLst/>
                      </a:pP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2021年</a:t>
                      </a:r>
                      <a:r>
                        <a:rPr sz="1400" kern="0" spc="10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全国大学生英语竞</a:t>
                      </a:r>
                      <a:r>
                        <a:rPr sz="1400" kern="0" spc="9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赛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925" algn="l" rtl="0" eaLnBrk="0">
                        <a:lnSpc>
                          <a:spcPts val="973"/>
                        </a:lnSpc>
                        <a:tabLst/>
                      </a:pPr>
                      <a:r>
                        <a:rPr sz="800" kern="0" spc="140" dirty="0">
                          <a:solidFill>
                            <a:srgbClr val="F03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火热报名中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100000"/>
                        </a:lnSpc>
                        <a:spcBef>
                          <a:spcPts val="335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报名时间：2021.02.28-2021.03.30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103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kern="0" spc="8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全国大学生英语竞赛</a:t>
                      </a:r>
                      <a:r>
                        <a:rPr sz="14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菁英志愿者全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国招募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925" algn="l" rtl="0" eaLnBrk="0">
                        <a:lnSpc>
                          <a:spcPts val="973"/>
                        </a:lnSpc>
                        <a:spcBef>
                          <a:spcPts val="370"/>
                        </a:spcBef>
                        <a:tabLst/>
                      </a:pPr>
                      <a:r>
                        <a:rPr sz="800" kern="0" spc="140" dirty="0">
                          <a:solidFill>
                            <a:srgbClr val="F03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火热报名中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830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报名时间：</a:t>
                      </a:r>
                      <a:r>
                        <a:rPr sz="1000" kern="0" spc="2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2021.02.04-2021.03</a:t>
                      </a:r>
                      <a:r>
                        <a:rPr sz="1000" kern="0" spc="10" dirty="0">
                          <a:solidFill>
                            <a:srgbClr val="707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.06</a:t>
                      </a:r>
                      <a:endParaRPr sz="10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3943350"/>
            <a:ext cx="3314700" cy="8051863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184649" y="2191203"/>
            <a:ext cx="13494385" cy="1640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9350" algn="l" rtl="0" eaLnBrk="0">
              <a:lnSpc>
                <a:spcPts val="4293"/>
              </a:lnSpc>
              <a:tabLst/>
            </a:pPr>
            <a:r>
              <a:rPr sz="3100" kern="0" spc="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3100" kern="0" spc="6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://  </a:t>
            </a:r>
            <a:r>
              <a:rPr sz="3100" b="1" kern="0" spc="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3100" b="1" kern="0" spc="6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3100" kern="0" spc="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saikr</a:t>
            </a:r>
            <a:r>
              <a:rPr sz="3100" kern="0" spc="6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3100" kern="0" spc="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3100" kern="0" spc="6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3100" kern="0" spc="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neccs</a:t>
            </a:r>
            <a:r>
              <a:rPr sz="3100" kern="0" spc="6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/2</a:t>
            </a:r>
            <a:r>
              <a:rPr sz="3100" kern="0" spc="5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026</a:t>
            </a:r>
            <a:endParaRPr sz="3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89"/>
              </a:spcBef>
              <a:tabLst/>
            </a:pPr>
            <a:r>
              <a:rPr sz="3200" kern="0" spc="21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方式二：手机端下载赛氪</a:t>
            </a:r>
            <a:r>
              <a:rPr sz="3200" kern="0" spc="0" dirty="0">
                <a:solidFill>
                  <a:srgbClr val="108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</a:t>
            </a:r>
            <a:r>
              <a:rPr sz="3200" kern="0" spc="-340" dirty="0">
                <a:solidFill>
                  <a:srgbClr val="108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21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搜索全国大学生英语竞赛(赛事准确</a:t>
            </a:r>
            <a:r>
              <a:rPr sz="3200" kern="0" spc="20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全称)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574"/>
              </a:spcBef>
              <a:tabLst/>
            </a:pPr>
            <a:r>
              <a:rPr sz="3200" kern="0" spc="12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方式三：扫描二维码</a:t>
            </a:r>
            <a:r>
              <a:rPr sz="3200" kern="0" spc="11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报名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600450" y="4743450"/>
            <a:ext cx="3352800" cy="332741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4184649" y="1717992"/>
            <a:ext cx="9316084" cy="487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200" kern="0" spc="13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方式一：浏览器打开全</a:t>
            </a:r>
            <a:r>
              <a:rPr sz="3200" kern="0" spc="12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国大学生英语竞赛报名网址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14442806" y="4508823"/>
            <a:ext cx="2303145" cy="784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 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全国大学生英语竞赛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6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竞赛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717550" y="1288336"/>
            <a:ext cx="2393950" cy="655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5300" b="1" kern="0" spc="-4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Step.01</a:t>
            </a:r>
            <a:endParaRPr sz="5300" dirty="0">
              <a:latin typeface="Arial"/>
              <a:ea typeface="Arial"/>
              <a:cs typeface="Arial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458950" y="5499116"/>
            <a:ext cx="1155700" cy="977837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484350" y="7740682"/>
            <a:ext cx="1123950" cy="971549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4490700" y="8832818"/>
            <a:ext cx="1117600" cy="97155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4478000" y="12179236"/>
            <a:ext cx="1136650" cy="946261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8599" y="8474408"/>
            <a:ext cx="2548254" cy="487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200" kern="0" spc="10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扫码立即报名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1107400" y="387334"/>
            <a:ext cx="908050" cy="901683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22067163" y="523786"/>
            <a:ext cx="1049019" cy="645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875"/>
              </a:lnSpc>
              <a:tabLst/>
            </a:pPr>
            <a:r>
              <a:rPr sz="2300" b="1" kern="0" spc="1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</a:t>
            </a:r>
            <a:r>
              <a:rPr sz="1300" b="1" kern="0" spc="-510" baseline="4224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</a:t>
            </a:r>
            <a:r>
              <a:rPr sz="1300" b="1" kern="0" spc="180" baseline="-378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300" baseline="-37887" dirty="0">
              <a:latin typeface="Arial"/>
              <a:ea typeface="Arial"/>
              <a:cs typeface="Arial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2617436" y="536486"/>
            <a:ext cx="482091" cy="6190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1073149" y="574651"/>
            <a:ext cx="22900639" cy="2259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40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4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6791"/>
              </a:lnSpc>
              <a:spcBef>
                <a:spcPts val="482"/>
              </a:spcBef>
              <a:tabLst/>
            </a:pPr>
            <a:r>
              <a:rPr sz="48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4800" b="1" i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tep. </a:t>
            </a:r>
            <a:r>
              <a:rPr sz="48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4800" dirty="0">
              <a:latin typeface="Arial"/>
              <a:ea typeface="Arial"/>
              <a:cs typeface="Arial"/>
            </a:endParaRPr>
          </a:p>
          <a:p>
            <a:pPr marL="190500" algn="l" rtl="0" eaLnBrk="0">
              <a:lnSpc>
                <a:spcPct val="97000"/>
              </a:lnSpc>
              <a:spcBef>
                <a:spcPts val="1019"/>
              </a:spcBef>
              <a:tabLst/>
            </a:pPr>
            <a:r>
              <a:rPr sz="3400" kern="0" spc="-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</a:t>
            </a:r>
            <a:r>
              <a:rPr sz="3400" kern="0" spc="-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400" kern="0" spc="-3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端</a:t>
            </a:r>
            <a:r>
              <a:rPr sz="3400" kern="0" spc="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4500" kern="0" spc="-34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如图所示，点</a:t>
            </a:r>
            <a:r>
              <a:rPr sz="4500" kern="0" spc="-35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击“赛区入口”,选择自己学校所在的赛区；</a:t>
            </a:r>
            <a:endParaRPr sz="4500" dirty="0">
              <a:latin typeface="SimSun"/>
              <a:ea typeface="SimSun"/>
              <a:cs typeface="SimSun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3594099" y="7058596"/>
            <a:ext cx="17884775" cy="274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21"/>
              </a:lnSpc>
              <a:tabLst/>
            </a:pPr>
            <a:r>
              <a:rPr sz="1900" b="1" kern="0" spc="140" baseline="440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竞赛信息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通知公告(0)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b="1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讨论区(0)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</a:t>
            </a:r>
            <a:r>
              <a:rPr sz="1500" kern="0" spc="130" baseline="2641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报名时间距离报名截止还有94天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900" b="1" kern="0" spc="130" baseline="-230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赛区入口</a:t>
            </a:r>
            <a:endParaRPr sz="1900" baseline="-2301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2"/>
              </a:spcBef>
              <a:tabLst/>
            </a:pPr>
            <a:r>
              <a:rPr sz="3500" kern="0" spc="-20" baseline="-7441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kern="0" spc="-20" baseline="-1402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赛</a:t>
            </a:r>
            <a:r>
              <a:rPr sz="1600" kern="0" spc="5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kern="0" spc="-20" baseline="-1402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氪</a:t>
            </a:r>
            <a:r>
              <a:rPr sz="1600" kern="0" spc="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首页 赛事中心 学习提升 证书查询 入驻申请 新闻资讯关于我们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搜一搜发现更多精彩          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                   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40884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4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4000" kern="0" spc="-4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4000" kern="0" spc="-4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4000" kern="0" spc="-5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</a:t>
            </a:r>
            <a:r>
              <a:rPr sz="40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年</a:t>
            </a:r>
            <a:endParaRPr sz="4000" dirty="0">
              <a:latin typeface="SimSun"/>
              <a:ea typeface="SimSun"/>
              <a:cs typeface="SimSun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3724297" y="8460016"/>
            <a:ext cx="231775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布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0382250" y="3284400"/>
            <a:ext cx="9948544" cy="2266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氪</a:t>
            </a:r>
            <a:r>
              <a:rPr sz="1800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首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页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赛事中心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学习提升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证书查询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入驻申请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</a:t>
            </a:r>
            <a:r>
              <a:rPr sz="11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闻</a:t>
            </a:r>
            <a:r>
              <a:rPr sz="11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</a:t>
            </a:r>
            <a:r>
              <a:rPr sz="11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讯</a:t>
            </a:r>
            <a:r>
              <a:rPr sz="11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</a:t>
            </a:r>
            <a:r>
              <a:rPr sz="11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于</a:t>
            </a:r>
            <a:r>
              <a:rPr sz="11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</a:t>
            </a:r>
            <a:r>
              <a:rPr sz="11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们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500" kern="0" spc="80" baseline="1389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搜</a:t>
            </a:r>
            <a:r>
              <a:rPr sz="900" kern="0" spc="-26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80" baseline="1389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一搜发现更多精彩</a:t>
            </a:r>
            <a:endParaRPr sz="1500" baseline="1389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5079" algn="l" rtl="0" eaLnBrk="0">
              <a:lnSpc>
                <a:spcPct val="93000"/>
              </a:lnSpc>
              <a:spcBef>
                <a:spcPts val="1179"/>
              </a:spcBef>
              <a:tabLst/>
            </a:pPr>
            <a:r>
              <a:rPr sz="3900" i="1" kern="0" spc="130" dirty="0">
                <a:solidFill>
                  <a:srgbClr val="301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已回2</a:t>
            </a:r>
            <a:r>
              <a:rPr sz="3700" i="1" kern="0" spc="130" dirty="0">
                <a:solidFill>
                  <a:srgbClr val="301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3700" i="1" kern="0" spc="580" dirty="0">
                <a:solidFill>
                  <a:srgbClr val="301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i="1" kern="0" spc="130" dirty="0">
                <a:solidFill>
                  <a:srgbClr val="301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3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2000"/>
              </a:lnSpc>
              <a:spcBef>
                <a:spcPts val="665"/>
              </a:spcBef>
              <a:tabLst/>
            </a:pPr>
            <a:r>
              <a:rPr sz="5400" i="1" kern="0" spc="109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全国大学生英语竞赛</a:t>
            </a:r>
            <a:endParaRPr sz="54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4759539" y="9803702"/>
            <a:ext cx="1811020" cy="3344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9039" algn="l" rtl="0" eaLnBrk="0">
              <a:lnSpc>
                <a:spcPct val="9500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请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选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择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310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28089" algn="l" rtl="0" eaLnBrk="0">
              <a:lnSpc>
                <a:spcPct val="95000"/>
              </a:lnSpc>
              <a:spcBef>
                <a:spcPts val="301"/>
              </a:spcBef>
              <a:tabLst/>
            </a:pP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上海赛区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09039" algn="l" rtl="0" eaLnBrk="0">
              <a:lnSpc>
                <a:spcPct val="95000"/>
              </a:lnSpc>
              <a:spcBef>
                <a:spcPts val="309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江苏赛区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304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吉林赛区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303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云南赛区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1145" algn="l" rtl="0" eaLnBrk="0">
              <a:lnSpc>
                <a:spcPct val="95000"/>
              </a:lnSpc>
              <a:spcBef>
                <a:spcPts val="546"/>
              </a:spcBef>
              <a:tabLst/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竞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赛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息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5000"/>
              </a:lnSpc>
              <a:spcBef>
                <a:spcPts val="574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山西赛区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2026年全国</a:t>
            </a:r>
            <a:r>
              <a:rPr sz="1500" kern="0" spc="0" baseline="3472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福建赛区</a:t>
            </a:r>
            <a:endParaRPr sz="1500" baseline="34725" dirty="0">
              <a:latin typeface="SimSun"/>
              <a:ea typeface="SimSun"/>
              <a:cs typeface="SimSun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4740095" y="13384497"/>
            <a:ext cx="6498590" cy="498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0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说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明：线上报考的赛区或学校正在陆续开通中，未找到报名入口可先咨询您所在赛区或学校相关负责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1600" b="1" kern="0" spc="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竞赛信息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13233400" y="5788580"/>
            <a:ext cx="3434715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8000"/>
              </a:lnSpc>
              <a:tabLst/>
            </a:pPr>
            <a:r>
              <a:rPr sz="1000" b="1" kern="0" spc="12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000" b="1" kern="0" spc="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主</a:t>
            </a:r>
            <a:r>
              <a:rPr sz="1000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办单位：全国高等师范院校外语</a:t>
            </a:r>
            <a:r>
              <a:rPr sz="10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教学与研究协作组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820"/>
              </a:spcBef>
              <a:tabLst/>
            </a:pPr>
            <a:r>
              <a:rPr sz="1000" kern="0" spc="11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0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协办单位：英语辅</a:t>
            </a:r>
            <a:r>
              <a:rPr sz="10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导报北京研发中心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000" kern="0" spc="11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0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承办单位：全国大学生英语竞赛组织委员</a:t>
            </a:r>
            <a:r>
              <a:rPr sz="10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16922750" y="5789469"/>
            <a:ext cx="3197225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报名时间：2025年12月17日-2026年3月13日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597"/>
              </a:spcBef>
              <a:tabLst/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初赛时间：2026年4月12</a:t>
            </a:r>
            <a:r>
              <a:rPr sz="1000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日(星期日)9:00-11:00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11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0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决赛时间：2026年5月1</a:t>
            </a:r>
            <a:r>
              <a:rPr sz="10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0日(星期日)9:00-</a:t>
            </a:r>
            <a:r>
              <a:rPr sz="1000" kern="0" spc="-2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11:00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8591549" y="10292112"/>
            <a:ext cx="728980" cy="274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天津赛区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04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湖北赛区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03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河北赛区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04"/>
              </a:spcBef>
              <a:tabLst/>
            </a:pP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黑龙江赛区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03"/>
              </a:spcBef>
              <a:tabLst/>
            </a:pP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宁夏赛区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04"/>
              </a:spcBef>
              <a:tabLst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河南赛区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内蒙古赛区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2477750" y="12173728"/>
            <a:ext cx="990600" cy="1354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95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赛区入口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5250" indent="-82550" algn="l" rtl="0" eaLnBrk="0">
              <a:lnSpc>
                <a:spcPct val="139000"/>
              </a:lnSpc>
              <a:spcBef>
                <a:spcPts val="3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语竞赛组委会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竞赛组织委员会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971000" y="431768"/>
            <a:ext cx="914400" cy="895396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22948900" y="1054889"/>
            <a:ext cx="950594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3"/>
              </a:lnSpc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soikr.com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1028700" y="1334849"/>
            <a:ext cx="14738350" cy="1756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769"/>
              </a:lnSpc>
              <a:tabLst/>
            </a:pPr>
            <a:r>
              <a:rPr sz="57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Step.</a:t>
            </a:r>
            <a:r>
              <a:rPr sz="5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5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615"/>
              </a:spcBef>
              <a:tabLst/>
            </a:pPr>
            <a:r>
              <a:rPr sz="35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</a:t>
            </a:r>
            <a:r>
              <a:rPr sz="3500" kern="0" spc="-80" dirty="0">
                <a:solidFill>
                  <a:srgbClr val="C0E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端          </a:t>
            </a:r>
            <a:r>
              <a:rPr sz="4700" kern="0" spc="-8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点击“各校入口”,选择自己学校</a:t>
            </a:r>
            <a:r>
              <a:rPr sz="4700" kern="0" spc="-9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的报名页面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023074" y="4038663"/>
            <a:ext cx="13179425" cy="1852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3000" b="1" kern="0" spc="40" baseline="-520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首页赛事中心</a:t>
            </a:r>
            <a:r>
              <a:rPr sz="1900" kern="0" spc="-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40" baseline="1041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学习提升</a:t>
            </a:r>
            <a:r>
              <a:rPr sz="1300" kern="0" spc="4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40" baseline="1041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证书查询</a:t>
            </a:r>
            <a:r>
              <a:rPr sz="1300" kern="0" spc="4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40" baseline="1041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入驻申请</a:t>
            </a:r>
            <a:r>
              <a:rPr sz="1300" kern="0" spc="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40" baseline="1041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新闻资讯</a:t>
            </a:r>
            <a:r>
              <a:rPr sz="1300" kern="0" spc="4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40" baseline="1041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关于我们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2000" kern="0" spc="40" baseline="-520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搜一搜发现更多彩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               </a:t>
            </a:r>
            <a:r>
              <a:rPr sz="2000" kern="0" spc="30" baseline="-520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30" baseline="-520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布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500" kern="0" spc="30" baseline="-1785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Ω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endParaRPr sz="2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45965" algn="l" rtl="0" eaLnBrk="0">
              <a:lnSpc>
                <a:spcPct val="95000"/>
              </a:lnSpc>
              <a:tabLst/>
            </a:pP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5100" kern="0" spc="-5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5100" kern="0" spc="-5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5100" kern="0" spc="-6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</a:t>
            </a:r>
            <a:r>
              <a:rPr sz="5100" kern="0" spc="-5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年</a:t>
            </a:r>
            <a:endParaRPr sz="5100" dirty="0">
              <a:latin typeface="SimSun"/>
              <a:ea typeface="SimSun"/>
              <a:cs typeface="SimSun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741197" y="4051363"/>
            <a:ext cx="431800" cy="419051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6214528" y="9825470"/>
            <a:ext cx="8333740" cy="1318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900" b="1" kern="0" spc="-190" baseline="-1068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2026年全国</a:t>
            </a:r>
            <a:r>
              <a:rPr sz="2500" kern="0" spc="-6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-60" baseline="15626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北京航空航天大学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  </a:t>
            </a:r>
            <a:r>
              <a:rPr sz="2000" kern="0" spc="-60" baseline="23439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北京第二外国语学院中瑞酒</a:t>
            </a:r>
            <a:r>
              <a:rPr sz="2000" kern="0" spc="-70" baseline="23439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店管理学院</a:t>
            </a:r>
            <a:endParaRPr sz="2000" baseline="23439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392"/>
              </a:spcBef>
              <a:tabLst/>
            </a:pP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说明：线上报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考的赛区或学校正在陆续开通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中，未找到报名入口可先咨询您所在赛区或学校相关负责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0033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1800" b="1" kern="0" spc="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竞赛信息</a:t>
            </a:r>
            <a:endParaRPr sz="1800" dirty="0">
              <a:latin typeface="SimSun"/>
              <a:ea typeface="SimSun"/>
              <a:cs typeface="SimSun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6492933" y="5923150"/>
            <a:ext cx="2585085" cy="3582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5080" algn="l" rtl="0" eaLnBrk="0">
              <a:lnSpc>
                <a:spcPct val="95000"/>
              </a:lnSpc>
              <a:tabLst/>
            </a:pPr>
            <a:r>
              <a:rPr sz="13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请选择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2539" algn="l" rtl="0" eaLnBrk="0">
              <a:lnSpc>
                <a:spcPct val="95000"/>
              </a:lnSpc>
              <a:spcBef>
                <a:spcPts val="397"/>
              </a:spcBef>
              <a:tabLst/>
            </a:pP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外交学院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2539" algn="l" rtl="0" eaLnBrk="0">
              <a:lnSpc>
                <a:spcPct val="95000"/>
              </a:lnSpc>
              <a:spcBef>
                <a:spcPts val="390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北京语言大学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97939" algn="l" rtl="0" eaLnBrk="0">
              <a:lnSpc>
                <a:spcPct val="94000"/>
              </a:lnSpc>
              <a:spcBef>
                <a:spcPts val="399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首都医科大学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2539" algn="l" rtl="0" eaLnBrk="0">
              <a:lnSpc>
                <a:spcPct val="95000"/>
              </a:lnSpc>
              <a:spcBef>
                <a:spcPts val="395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北京城市学院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2539" algn="l" rtl="0" eaLnBrk="0">
              <a:lnSpc>
                <a:spcPct val="95000"/>
              </a:lnSpc>
              <a:spcBef>
                <a:spcPts val="398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北京电影学院</a:t>
            </a:r>
            <a:endParaRPr sz="1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66"/>
              </a:spcBef>
              <a:tabLst/>
            </a:pPr>
            <a:r>
              <a:rPr sz="2000" b="1" kern="0" spc="-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竞赛信息</a:t>
            </a:r>
            <a:endParaRPr sz="20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5000"/>
              </a:lnSpc>
              <a:spcBef>
                <a:spcPts val="282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中国人民公安大学</a:t>
            </a:r>
            <a:endParaRPr sz="1300" dirty="0">
              <a:latin typeface="SimSun"/>
              <a:ea typeface="SimSun"/>
              <a:cs typeface="SimSun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84900" y="4692586"/>
            <a:ext cx="1435100" cy="3987927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6191249" y="11463952"/>
            <a:ext cx="7456805" cy="719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通知</a:t>
            </a:r>
            <a:r>
              <a:rPr sz="1300" kern="0" spc="-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1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24000"/>
              </a:lnSpc>
              <a:spcBef>
                <a:spcPts val="101"/>
              </a:spcBef>
              <a:tabLst/>
            </a:pP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网报系统退费退赛截止时间与报名截止日期同为3月13日，请注意!报名结束后退费通道将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永久关闭，请仔细确认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后再报名。</a:t>
            </a:r>
            <a:endParaRPr sz="1300" dirty="0">
              <a:latin typeface="SimSun"/>
              <a:ea typeface="SimSun"/>
              <a:cs typeface="SimSun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11169649" y="6540786"/>
            <a:ext cx="1323975" cy="2962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北京林业大学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8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首都经济贸易大学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399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北京科技大学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5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北京农学院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7"/>
              </a:spcBef>
              <a:tabLst/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清华大学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北京外国语大学</a:t>
            </a:r>
            <a:endParaRPr sz="1300" dirty="0">
              <a:latin typeface="SimSun"/>
              <a:ea typeface="SimSun"/>
              <a:cs typeface="SimSun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4471650" y="11373104"/>
            <a:ext cx="2710179" cy="807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类 型 个 人 赛</a:t>
            </a:r>
            <a:endParaRPr sz="1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2504"/>
              </a:lnSpc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|</a:t>
            </a:r>
            <a:r>
              <a:rPr sz="13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主办方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60"/>
              </a:lnSpc>
              <a:spcBef>
                <a:spcPts val="2"/>
              </a:spcBef>
              <a:tabLst/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全国高等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师范院校外语教学与研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究协作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393150" y="355615"/>
            <a:ext cx="996950" cy="977837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22436554" y="468154"/>
            <a:ext cx="1166494" cy="794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6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4600" b="1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4600" dirty="0">
              <a:latin typeface="SimHei"/>
              <a:ea typeface="SimHei"/>
              <a:cs typeface="SimHei"/>
            </a:endParaRPr>
          </a:p>
          <a:p>
            <a:pPr marL="29209" algn="l" rtl="0" eaLnBrk="0">
              <a:lnSpc>
                <a:spcPct val="80000"/>
              </a:lnSpc>
              <a:spcBef>
                <a:spcPts val="5"/>
              </a:spcBef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Soikr.com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78350" y="3994212"/>
            <a:ext cx="476250" cy="45720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4737100" y="4172246"/>
            <a:ext cx="1055369" cy="356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800" kern="0" spc="-50" baseline="14882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</a:t>
            </a:r>
            <a:r>
              <a:rPr sz="1800" kern="0" spc="7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赛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氪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16357600" y="8989269"/>
            <a:ext cx="935989" cy="2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各校入口</a:t>
            </a:r>
            <a:endParaRPr sz="18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5067300" y="2786126"/>
            <a:ext cx="12573634" cy="4484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95000"/>
              </a:lnSpc>
              <a:tabLst/>
            </a:pPr>
            <a:r>
              <a:rPr sz="4700" kern="0" spc="-320" dirty="0">
                <a:solidFill>
                  <a:srgbClr val="107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点击的“立即报名”按钮，进入报名和缴费页面；</a:t>
            </a:r>
            <a:endParaRPr sz="4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59"/>
              </a:lnSpc>
              <a:spcBef>
                <a:spcPts val="867"/>
              </a:spcBef>
              <a:tabLst/>
            </a:pPr>
            <a:r>
              <a:rPr sz="4400" kern="0" spc="80" baseline="-2272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2400" kern="0" spc="80" baseline="147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学习提升证书查询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400" kern="0" spc="80" baseline="147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入驻申请</a:t>
            </a:r>
            <a:r>
              <a:rPr sz="1500" kern="0" spc="7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80" baseline="147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新闻资讯</a:t>
            </a:r>
            <a:r>
              <a:rPr sz="1500" kern="0" spc="6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80" baseline="147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关于我们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300" kern="0" spc="80" dirty="0">
                <a:solidFill>
                  <a:srgbClr val="B0B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搜一搜发现更</a:t>
            </a:r>
            <a:r>
              <a:rPr sz="1300" kern="0" spc="70" dirty="0">
                <a:solidFill>
                  <a:srgbClr val="B0B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多精彩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54750" algn="l" rtl="0" eaLnBrk="0">
              <a:lnSpc>
                <a:spcPct val="97000"/>
              </a:lnSpc>
              <a:spcBef>
                <a:spcPts val="1718"/>
              </a:spcBef>
              <a:tabLst/>
            </a:pPr>
            <a:r>
              <a:rPr sz="5700" kern="0" spc="-40" dirty="0">
                <a:solidFill>
                  <a:srgbClr val="8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</a:t>
            </a:r>
            <a:r>
              <a:rPr sz="5700" kern="0" spc="2700" dirty="0">
                <a:solidFill>
                  <a:srgbClr val="8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700" kern="0" spc="-40" dirty="0">
                <a:solidFill>
                  <a:srgbClr val="806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5700" kern="0" spc="-40" dirty="0">
                <a:solidFill>
                  <a:srgbClr val="8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5700" dirty="0">
              <a:latin typeface="SimHei"/>
              <a:ea typeface="SimHei"/>
              <a:cs typeface="SimHei"/>
            </a:endParaRPr>
          </a:p>
          <a:p>
            <a:pPr marL="3060064" algn="l" rtl="0" eaLnBrk="0">
              <a:lnSpc>
                <a:spcPct val="92000"/>
              </a:lnSpc>
              <a:spcBef>
                <a:spcPts val="774"/>
              </a:spcBef>
              <a:tabLst/>
            </a:pPr>
            <a:r>
              <a:rPr sz="7900" i="1" kern="0" spc="210" dirty="0">
                <a:solidFill>
                  <a:srgbClr val="6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全国大学生英语竞赛</a:t>
            </a:r>
            <a:endParaRPr sz="7900" dirty="0">
              <a:latin typeface="SimHei"/>
              <a:ea typeface="SimHei"/>
              <a:cs typeface="SimHei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7400" y="11353848"/>
            <a:ext cx="7816850" cy="2635186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6392745" y="10472594"/>
            <a:ext cx="12817475" cy="709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34"/>
              </a:lnSpc>
              <a:tabLst/>
            </a:pP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2026年全国大学生英语竞赛</a:t>
            </a: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■分</a:t>
            </a:r>
            <a:r>
              <a:rPr sz="26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赛区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</a:t>
            </a:r>
            <a:r>
              <a:rPr sz="1900" kern="0" spc="-60" baseline="70507" dirty="0">
                <a:solidFill>
                  <a:srgbClr val="20E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1200" kern="0" spc="-60" dirty="0">
                <a:solidFill>
                  <a:srgbClr val="20E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-60" baseline="70507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发布者</a:t>
            </a:r>
            <a:endParaRPr sz="1900" baseline="70507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985"/>
              </a:lnSpc>
              <a:spcBef>
                <a:spcPts val="162"/>
              </a:spcBef>
              <a:tabLst/>
            </a:pP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全国大学生英语竞赛组委会…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628650" y="1448799"/>
            <a:ext cx="2545079" cy="1555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96"/>
              </a:lnSpc>
              <a:tabLst/>
            </a:pPr>
            <a:r>
              <a:rPr sz="55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r>
              <a:rPr sz="5500" b="1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5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5500" dirty="0">
              <a:latin typeface="Arial"/>
              <a:ea typeface="Arial"/>
              <a:cs typeface="Arial"/>
            </a:endParaRPr>
          </a:p>
          <a:p>
            <a:pPr marL="101600" algn="l" rtl="0" eaLnBrk="0">
              <a:lnSpc>
                <a:spcPts val="4547"/>
              </a:lnSpc>
              <a:tabLst/>
            </a:pP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端</a:t>
            </a:r>
            <a:endParaRPr sz="3600" dirty="0">
              <a:latin typeface="FangSong"/>
              <a:ea typeface="FangSong"/>
              <a:cs typeface="FangSong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8623300" y="7669758"/>
            <a:ext cx="4255770" cy="865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400" kern="0" spc="12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主办单位：全国高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等师范院校外语教学与研究协作组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687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协办单位：英语辅导报北京研发中心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承办单位：全国大学生英语竞赛组织委员会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3233398" y="7671048"/>
            <a:ext cx="3825240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报名时间：2025年12月17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日-2026年3月13日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687"/>
              </a:spcBef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初赛时间：2026年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4月12日(星期日)9:00-11:00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决赛时间：2026年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5月10日(星期日)9:00-11:00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6746878" y="9511027"/>
            <a:ext cx="6540500" cy="318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09"/>
              </a:lnSpc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竞赛信息</a:t>
            </a: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通知公告(0)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讨论区(0)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2200" b="1" kern="0" spc="40" baseline="-175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官方书籍</a:t>
            </a:r>
            <a:endParaRPr sz="2200" baseline="-17590" dirty="0">
              <a:latin typeface="SimHei"/>
              <a:ea typeface="SimHei"/>
              <a:cs typeface="SimHe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4509751" y="9511274"/>
            <a:ext cx="4359909" cy="347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32"/>
              </a:lnSpc>
              <a:tabLst/>
            </a:pPr>
            <a:r>
              <a:rPr sz="2200" kern="0" spc="-20" baseline="1921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报名时间距离报名截止还有94</a:t>
            </a:r>
            <a:r>
              <a:rPr sz="2200" kern="0" spc="-30" baseline="1921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天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2800" b="1" kern="0" spc="-30" baseline="-20247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立即报名</a:t>
            </a:r>
            <a:endParaRPr sz="2800" baseline="-20247" dirty="0">
              <a:latin typeface="SimHei"/>
              <a:ea typeface="SimHei"/>
              <a:cs typeface="SimHei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396200" y="190450"/>
            <a:ext cx="1009650" cy="1022413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21458654" y="283988"/>
            <a:ext cx="118300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46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4600" dirty="0">
              <a:latin typeface="SimHei"/>
              <a:ea typeface="SimHei"/>
              <a:cs typeface="SimHei"/>
            </a:endParaRPr>
          </a:p>
          <a:p>
            <a:pPr marL="35559" algn="l" rtl="0" eaLnBrk="0">
              <a:lnSpc>
                <a:spcPct val="80000"/>
              </a:lnSpc>
              <a:spcBef>
                <a:spcPts val="11"/>
              </a:spcBef>
              <a:tabLst/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soikr.com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700" y="0"/>
            <a:ext cx="5727700" cy="5772150"/>
          </a:xfrm>
          <a:prstGeom prst="rect">
            <a:avLst/>
          </a:prstGeom>
        </p:spPr>
      </p:pic>
      <p:sp>
        <p:nvSpPr>
          <p:cNvPr id="138" name="rect 138"/>
          <p:cNvSpPr/>
          <p:nvPr/>
        </p:nvSpPr>
        <p:spPr>
          <a:xfrm>
            <a:off x="7778750" y="6819852"/>
            <a:ext cx="2940050" cy="336612"/>
          </a:xfrm>
          <a:prstGeom prst="rect">
            <a:avLst/>
          </a:prstGeom>
          <a:solidFill>
            <a:srgbClr val="DD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0" name="textbox 140"/>
          <p:cNvSpPr/>
          <p:nvPr/>
        </p:nvSpPr>
        <p:spPr>
          <a:xfrm>
            <a:off x="7734300" y="4489240"/>
            <a:ext cx="4111625" cy="4725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2026年全国大学生英语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竞赛外交学院分赛区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1000" algn="l" rtl="0" eaLnBrk="0">
              <a:lnSpc>
                <a:spcPts val="1139"/>
              </a:lnSpc>
              <a:spcBef>
                <a:spcPts val="274"/>
              </a:spcBef>
              <a:tabLst/>
            </a:pPr>
            <a:r>
              <a:rPr sz="900" kern="0" spc="-1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确认</a:t>
            </a:r>
            <a:r>
              <a:rPr sz="900" b="1" kern="0" spc="-1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报名并交要</a:t>
            </a:r>
            <a:r>
              <a:rPr sz="900" kern="0" spc="8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kern="0" spc="-10" dirty="0">
                <a:solidFill>
                  <a:srgbClr val="8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</a:t>
            </a:r>
            <a:r>
              <a:rPr sz="700" kern="0" spc="-10" dirty="0">
                <a:solidFill>
                  <a:srgbClr val="8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10" dirty="0">
                <a:solidFill>
                  <a:srgbClr val="8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名</a:t>
            </a:r>
            <a:r>
              <a:rPr sz="700" kern="0" spc="-1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</a:t>
            </a:r>
            <a:r>
              <a:rPr sz="700" kern="0" spc="-2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06114" algn="l" rtl="0" eaLnBrk="0">
              <a:lnSpc>
                <a:spcPct val="96000"/>
              </a:lnSpc>
              <a:spcBef>
                <a:spcPts val="308"/>
              </a:spcBef>
              <a:tabLst/>
            </a:pP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</a:t>
            </a:r>
            <a:r>
              <a:rPr sz="1000" kern="0" spc="110" dirty="0">
                <a:solidFill>
                  <a:srgbClr val="405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</a:t>
            </a:r>
            <a:r>
              <a:rPr sz="1000" kern="0" spc="110" dirty="0">
                <a:solidFill>
                  <a:srgbClr val="D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3333750" algn="l" rtl="0" eaLnBrk="0">
              <a:lnSpc>
                <a:spcPct val="95000"/>
              </a:lnSpc>
              <a:spcBef>
                <a:spcPts val="1252"/>
              </a:spcBef>
              <a:tabLst/>
            </a:pPr>
            <a:r>
              <a:rPr sz="1000" kern="0" spc="-50" dirty="0">
                <a:solidFill>
                  <a:srgbClr val="30A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○</a:t>
            </a:r>
            <a:r>
              <a:rPr sz="1000" kern="0" spc="-230" dirty="0">
                <a:solidFill>
                  <a:srgbClr val="30A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男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000" kern="0" spc="-5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1000" kern="0" spc="20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女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06750" algn="l" rtl="0" eaLnBrk="0">
              <a:lnSpc>
                <a:spcPct val="95000"/>
              </a:lnSpc>
              <a:spcBef>
                <a:spcPts val="302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所在学院</a:t>
            </a:r>
            <a:r>
              <a:rPr sz="10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20" dirty="0">
                <a:solidFill>
                  <a:srgbClr val="E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44450" algn="l" rtl="0" eaLnBrk="0">
              <a:lnSpc>
                <a:spcPts val="1117"/>
              </a:lnSpc>
              <a:spcBef>
                <a:spcPts val="1400"/>
              </a:spcBef>
              <a:tabLst>
                <a:tab pos="13970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80" baseline="6547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外交学院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</a:t>
            </a:r>
            <a:r>
              <a:rPr sz="1100" kern="0" spc="80" baseline="-1732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请填三所在学映</a:t>
            </a:r>
            <a:endParaRPr sz="1100" baseline="-1732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06750" algn="l" rtl="0" eaLnBrk="0">
              <a:lnSpc>
                <a:spcPct val="100000"/>
              </a:lnSpc>
              <a:spcBef>
                <a:spcPts val="305"/>
              </a:spcBef>
              <a:tabLst/>
            </a:pP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学号</a:t>
            </a:r>
            <a:r>
              <a:rPr sz="1000" kern="0" spc="110" dirty="0">
                <a:solidFill>
                  <a:srgbClr val="E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3333750" algn="l" rtl="0" eaLnBrk="0">
              <a:lnSpc>
                <a:spcPts val="967"/>
              </a:lnSpc>
              <a:spcBef>
                <a:spcPts val="1347"/>
              </a:spcBef>
              <a:tabLst/>
            </a:pPr>
            <a:r>
              <a:rPr sz="800" kern="0" spc="7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学校学号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06"/>
              </a:spcBef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级班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手机号</a:t>
            </a:r>
            <a:r>
              <a:rPr sz="1000" kern="0" spc="60" dirty="0">
                <a:solidFill>
                  <a:srgbClr val="E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67"/>
              </a:lnSpc>
              <a:spcBef>
                <a:spcPts val="245"/>
              </a:spcBef>
              <a:tabLst/>
            </a:pPr>
            <a:r>
              <a:rPr sz="800" kern="0" spc="40" dirty="0">
                <a:solidFill>
                  <a:srgbClr val="A0A0A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例</a:t>
            </a:r>
            <a:r>
              <a:rPr sz="800" kern="0" spc="-80" dirty="0">
                <a:solidFill>
                  <a:srgbClr val="A0A0A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</a:t>
            </a:r>
            <a:r>
              <a:rPr sz="800" kern="0" spc="40" dirty="0">
                <a:solidFill>
                  <a:srgbClr val="A0A0A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：</a:t>
            </a:r>
            <a:r>
              <a:rPr sz="800" kern="0" spc="4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2024级1班</a:t>
            </a:r>
            <a:r>
              <a:rPr sz="800" kern="0" spc="1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800" kern="0" spc="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</a:t>
            </a:r>
            <a:r>
              <a:rPr sz="800" kern="0" spc="4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请输入手</a:t>
            </a:r>
            <a:r>
              <a:rPr sz="800" kern="0" spc="3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机号码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邮箱</a:t>
            </a:r>
            <a:r>
              <a:rPr sz="1000" kern="0" spc="0" dirty="0">
                <a:solidFill>
                  <a:srgbClr val="E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r>
              <a:rPr sz="1000" kern="0" spc="0" dirty="0">
                <a:solidFill>
                  <a:srgbClr val="E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</a:t>
            </a:r>
            <a:r>
              <a:rPr sz="1000" kern="0" spc="-10" dirty="0">
                <a:solidFill>
                  <a:srgbClr val="E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身份证号</a:t>
            </a:r>
            <a:r>
              <a:rPr sz="1100" kern="0" spc="-10" dirty="0">
                <a:solidFill>
                  <a:srgbClr val="E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4806950" y="1344945"/>
            <a:ext cx="10553700" cy="1782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0050" algn="l" rtl="0" eaLnBrk="0">
              <a:lnSpc>
                <a:spcPct val="95000"/>
              </a:lnSpc>
              <a:tabLst/>
            </a:pPr>
            <a:r>
              <a:rPr sz="3500" kern="0" spc="2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在线报名流程指引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06"/>
              </a:spcBef>
              <a:tabLst/>
            </a:pPr>
            <a:r>
              <a:rPr sz="3400" kern="0" spc="-10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(1)</a:t>
            </a:r>
            <a:r>
              <a:rPr sz="3400" kern="0" spc="90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-10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参赛者如实填写个人信息；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978"/>
              </a:spcBef>
              <a:tabLst/>
            </a:pPr>
            <a:r>
              <a:rPr sz="3500" kern="0" spc="-26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(2)</a:t>
            </a:r>
            <a:r>
              <a:rPr sz="3500" kern="0" spc="73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kern="0" spc="-26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填写完后，点击“下一步”按钮，跳转到缴费页面。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7734299" y="10646838"/>
            <a:ext cx="4654550" cy="2983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报考类别</a:t>
            </a:r>
            <a:r>
              <a:rPr sz="10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10" dirty="0">
                <a:solidFill>
                  <a:srgbClr val="D05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ts val="967"/>
              </a:lnSpc>
              <a:spcBef>
                <a:spcPts val="1399"/>
              </a:spcBef>
              <a:tabLst/>
            </a:pPr>
            <a:r>
              <a:rPr sz="800" kern="0" spc="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3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学-适用于研究生参加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967"/>
              </a:lnSpc>
              <a:spcBef>
                <a:spcPts val="245"/>
              </a:spcBef>
              <a:tabLst/>
            </a:pPr>
            <a:r>
              <a:rPr sz="800" kern="0" spc="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1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学-适用于英语专业本、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专科学生参加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967"/>
              </a:lnSpc>
              <a:spcBef>
                <a:spcPts val="245"/>
              </a:spcBef>
              <a:tabLst/>
            </a:pPr>
            <a:r>
              <a:rPr sz="800" kern="0" spc="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20" dirty="0">
                <a:solidFill>
                  <a:srgbClr val="10B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类-造适用于非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英语专业本科生参加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967"/>
              </a:lnSpc>
              <a:spcBef>
                <a:spcPts val="246"/>
              </a:spcBef>
              <a:tabLst/>
            </a:pPr>
            <a:r>
              <a:rPr sz="800" kern="0" spc="0" dirty="0">
                <a:solidFill>
                  <a:srgbClr val="10C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50" dirty="0">
                <a:solidFill>
                  <a:srgbClr val="10C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8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奖-适用于体育学和艺术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类本科生和非英语专业亮职高专类学生参加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spcBef>
                <a:spcPts val="243"/>
              </a:spcBef>
              <a:tabLst/>
            </a:pPr>
            <a:r>
              <a:rPr sz="8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注意：严禁跨类别报名!跨类别参塞成续视为无效!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08250" indent="-311150" algn="l" rtl="0" eaLnBrk="0">
              <a:lnSpc>
                <a:spcPct val="113000"/>
              </a:lnSpc>
              <a:spcBef>
                <a:spcPts val="248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本竞密景终解释权归全国大学生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英语竞赛组委会所有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咨询竞壹报名相关事直请联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系刘军老师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2578100" algn="l" rtl="0" eaLnBrk="0">
              <a:lnSpc>
                <a:spcPts val="979"/>
              </a:lnSpc>
              <a:spcBef>
                <a:spcPts val="239"/>
              </a:spcBef>
              <a:tabLst/>
            </a:pP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电话：010-88375225:883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75849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453100" y="3549586"/>
            <a:ext cx="2660650" cy="3784617"/>
          </a:xfrm>
          <a:prstGeom prst="rect">
            <a:avLst/>
          </a:prstGeom>
        </p:spPr>
      </p:pic>
      <p:sp>
        <p:nvSpPr>
          <p:cNvPr id="148" name="textbox 148"/>
          <p:cNvSpPr/>
          <p:nvPr/>
        </p:nvSpPr>
        <p:spPr>
          <a:xfrm>
            <a:off x="463550" y="1290415"/>
            <a:ext cx="2520950" cy="1713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769"/>
              </a:lnSpc>
              <a:tabLst/>
            </a:pPr>
            <a:r>
              <a:rPr sz="5700" b="1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Step.</a:t>
            </a:r>
            <a:r>
              <a:rPr sz="5700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57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ts val="5522"/>
              </a:lnSpc>
              <a:tabLst/>
            </a:pPr>
            <a:r>
              <a:rPr sz="3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</a:t>
            </a:r>
            <a:r>
              <a:rPr sz="3600" kern="0" spc="-10" dirty="0">
                <a:solidFill>
                  <a:srgbClr val="FFFFFF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端</a:t>
            </a:r>
            <a:endParaRPr sz="3600" dirty="0">
              <a:latin typeface="FangSong"/>
              <a:ea typeface="FangSong"/>
              <a:cs typeface="FangSong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10928349" y="9376099"/>
            <a:ext cx="2616835" cy="928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967"/>
              </a:lnSpc>
              <a:tabLst/>
            </a:pPr>
            <a:r>
              <a:rPr sz="800" kern="0" spc="4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报名学生身份证号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852"/>
              </a:lnSpc>
              <a:spcBef>
                <a:spcPts val="830"/>
              </a:spcBef>
              <a:tabLst/>
            </a:pPr>
            <a:r>
              <a:rPr sz="700" kern="0" spc="1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港澳台学生使用港澳通</a:t>
            </a:r>
            <a:r>
              <a:rPr sz="700" kern="0" spc="16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行证(或称回乡证上的证件号码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964"/>
              </a:spcBef>
              <a:tabLst/>
            </a:pP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校区</a:t>
            </a:r>
            <a:r>
              <a:rPr sz="1000" kern="0" spc="110" dirty="0">
                <a:solidFill>
                  <a:srgbClr val="C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*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1092"/>
              </a:lnSpc>
              <a:spcBef>
                <a:spcPts val="1"/>
              </a:spcBef>
              <a:tabLst/>
            </a:pPr>
            <a:r>
              <a:rPr sz="900" kern="0" spc="10" dirty="0">
                <a:solidFill>
                  <a:srgbClr val="30A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○</a:t>
            </a:r>
            <a:r>
              <a:rPr sz="900" kern="0" spc="-140" dirty="0">
                <a:solidFill>
                  <a:srgbClr val="30A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本部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7734299" y="9370244"/>
            <a:ext cx="1122680" cy="940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970"/>
              </a:lnSpc>
              <a:tabLst/>
            </a:pPr>
            <a:r>
              <a:rPr sz="800" kern="0" spc="40" dirty="0">
                <a:solidFill>
                  <a:srgbClr val="A0A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调输入邮箱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02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指导教师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800" b="1" kern="0" spc="40" dirty="0">
                <a:solidFill>
                  <a:srgbClr val="A0A0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请填写指导教师姓名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758150" y="546068"/>
            <a:ext cx="965200" cy="977978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21786850" y="671323"/>
            <a:ext cx="112077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4600" b="1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</a:t>
            </a:r>
            <a:r>
              <a:rPr sz="46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氪</a:t>
            </a:r>
            <a:endParaRPr sz="4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74000"/>
              </a:lnSpc>
              <a:spcBef>
                <a:spcPts val="10"/>
              </a:spcBef>
              <a:tabLst/>
            </a:pPr>
            <a:r>
              <a:rPr sz="16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Soikr.com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525500" y="12674583"/>
            <a:ext cx="1193800" cy="603218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941550" y="3371850"/>
            <a:ext cx="1441450" cy="463486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886450" y="3359134"/>
            <a:ext cx="374650" cy="419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160750" y="7708963"/>
            <a:ext cx="1663700" cy="901684"/>
          </a:xfrm>
          <a:prstGeom prst="rect">
            <a:avLst/>
          </a:prstGeom>
        </p:spPr>
      </p:pic>
      <p:graphicFrame>
        <p:nvGraphicFramePr>
          <p:cNvPr id="168" name="table 168"/>
          <p:cNvGraphicFramePr>
            <a:graphicFrameLocks noGrp="1"/>
          </p:cNvGraphicFramePr>
          <p:nvPr/>
        </p:nvGraphicFramePr>
        <p:xfrm>
          <a:off x="5927725" y="5451506"/>
          <a:ext cx="10534650" cy="8324215"/>
        </p:xfrm>
        <a:graphic>
          <a:graphicData uri="http://schemas.openxmlformats.org/drawingml/2006/table">
            <a:tbl>
              <a:tblPr/>
              <a:tblGrid>
                <a:gridCol w="219075"/>
                <a:gridCol w="400050"/>
                <a:gridCol w="1581150"/>
                <a:gridCol w="120650"/>
                <a:gridCol w="3162300"/>
                <a:gridCol w="3505200"/>
                <a:gridCol w="1365250"/>
                <a:gridCol w="180975"/>
              </a:tblGrid>
              <a:tr h="1349375">
                <a:tc rowSpan="1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809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2026年全国大学生英语竞赛外交学</a:t>
                      </a:r>
                      <a:r>
                        <a:rPr sz="2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院分赛区</a:t>
                      </a:r>
                      <a:endParaRPr sz="21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81000" algn="l" rtl="0" eaLnBrk="0">
                        <a:lnSpc>
                          <a:spcPct val="83000"/>
                        </a:lnSpc>
                        <a:spcBef>
                          <a:spcPts val="921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竞赛将在</a:t>
                      </a:r>
                      <a:r>
                        <a:rPr sz="1500" kern="0" spc="10" dirty="0">
                          <a:solidFill>
                            <a:srgbClr val="10E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2026年04月12日09:00</a:t>
                      </a: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开始，请准时参加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!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81000" algn="l" rtl="0" eaLnBrk="0">
                        <a:lnSpc>
                          <a:spcPts val="2350"/>
                        </a:lnSpc>
                        <a:tabLst/>
                      </a:pPr>
                      <a:r>
                        <a:rPr sz="1500" kern="0" spc="10" dirty="0">
                          <a:solidFill>
                            <a:srgbClr val="20C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</a:t>
                      </a: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当前状态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465"/>
                        </a:lnSpc>
                        <a:tabLst/>
                      </a:pPr>
                      <a:r>
                        <a:rPr sz="1200" kern="0" spc="20" dirty="0">
                          <a:solidFill>
                            <a:srgbClr val="909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报名状态：</a:t>
                      </a:r>
                      <a:r>
                        <a:rPr sz="1200" kern="0" spc="20" dirty="0">
                          <a:solidFill>
                            <a:srgbClr val="505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已报名                                              </a:t>
                      </a:r>
                      <a:r>
                        <a:rPr sz="1200" kern="0" spc="20" dirty="0">
                          <a:solidFill>
                            <a:srgbClr val="90A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交费状态</a:t>
                      </a:r>
                      <a:r>
                        <a:rPr sz="1200" kern="0" spc="10" dirty="0">
                          <a:solidFill>
                            <a:srgbClr val="90A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r>
                        <a:rPr sz="1200" kern="0" spc="10" dirty="0">
                          <a:solidFill>
                            <a:srgbClr val="607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已交报名费(50.00元)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30C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修改信息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○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A0B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报名信息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0" dirty="0">
                          <a:solidFill>
                            <a:srgbClr val="9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准考证号：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8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报名编号：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10102800001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真实姓名：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ts val="1341"/>
                        </a:lnSpc>
                        <a:tabLst/>
                      </a:pPr>
                      <a:r>
                        <a:rPr sz="1000" kern="0" spc="-50" dirty="0">
                          <a:solidFill>
                            <a:srgbClr val="909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性</a:t>
                      </a:r>
                      <a:r>
                        <a:rPr sz="1000" kern="0" spc="30" dirty="0">
                          <a:solidFill>
                            <a:srgbClr val="909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50" dirty="0">
                          <a:solidFill>
                            <a:srgbClr val="909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别 ：</a:t>
                      </a:r>
                      <a:r>
                        <a:rPr sz="10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男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909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所在学校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909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所在学院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专业</a:t>
                      </a:r>
                      <a:r>
                        <a:rPr sz="1200" kern="0" spc="-30" dirty="0">
                          <a:solidFill>
                            <a:srgbClr val="5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；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20" dirty="0">
                          <a:solidFill>
                            <a:srgbClr val="708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学号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.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ts val="13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级班：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ts val="1346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909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手机号：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ts val="1355"/>
                        </a:lnSpc>
                        <a:tabLst/>
                      </a:pPr>
                      <a:r>
                        <a:rPr sz="1100" kern="0" spc="-4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邮箱：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身份证号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66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100" dirty="0">
                          <a:solidFill>
                            <a:srgbClr val="909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指导教师：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报考类别：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ts val="1346"/>
                        </a:lnSpc>
                        <a:tabLst/>
                      </a:pPr>
                      <a:r>
                        <a:rPr sz="1100" kern="0" spc="-1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校</a:t>
                      </a:r>
                      <a:r>
                        <a:rPr sz="1100" kern="0" spc="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100" kern="0" spc="-1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区</a:t>
                      </a:r>
                      <a:r>
                        <a:rPr sz="1100" kern="0" spc="-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100" kern="0" spc="-1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r>
                        <a:rPr sz="11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本部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785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906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文档下载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9600" algn="l" rtl="0" eaLnBrk="0">
                        <a:lnSpc>
                          <a:spcPts val="13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准</a:t>
                      </a:r>
                      <a:r>
                        <a:rPr sz="1100" kern="0" spc="-14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考</a:t>
                      </a:r>
                      <a:r>
                        <a:rPr sz="1100" kern="0" spc="-19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证</a:t>
                      </a:r>
                      <a:r>
                        <a:rPr sz="1100" kern="0" spc="-24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尚未公布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741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404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取消报名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0" name="picture 1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50" y="6286"/>
            <a:ext cx="5613400" cy="5613417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5016499" y="1802145"/>
            <a:ext cx="14525625" cy="3451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3300" kern="0" spc="-20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1.下载准考证功能说明：</a:t>
            </a:r>
            <a:endParaRPr sz="3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16000"/>
              </a:lnSpc>
              <a:spcBef>
                <a:spcPts val="15"/>
              </a:spcBef>
              <a:tabLst/>
            </a:pPr>
            <a:r>
              <a:rPr sz="3300" kern="0" spc="-2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学校负责老师会在竞赛报名结束之后</a:t>
            </a:r>
            <a:r>
              <a:rPr sz="3300" kern="0" spc="-3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，于后台配置各参赛者的考场，并公布准</a:t>
            </a:r>
            <a:r>
              <a:rPr sz="3300" kern="0" spc="-1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300" kern="0" spc="-3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考证；待学校负责老师发布准考证后</a:t>
            </a:r>
            <a:r>
              <a:rPr sz="3300" kern="0" spc="-4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，参赛者可于个人主页自己参加的竞赛中，</a:t>
            </a:r>
            <a:r>
              <a:rPr sz="3300" kern="0" spc="-1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300" kern="0" spc="-11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点击“报名管理”按钮，进入报名信息页</a:t>
            </a:r>
            <a:r>
              <a:rPr sz="3300" kern="0" spc="-12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面，如下图所示，直接下载准考证。</a:t>
            </a:r>
            <a:endParaRPr sz="3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733"/>
              </a:spcBef>
              <a:tabLst/>
            </a:pPr>
            <a:r>
              <a:rPr sz="3200" kern="0" spc="-120" dirty="0">
                <a:solidFill>
                  <a:srgbClr val="208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3200" kern="0" spc="-12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修改信息功能说明：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3200" kern="0" spc="70" dirty="0">
                <a:solidFill>
                  <a:srgbClr val="2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报名后，可点击修改信息去更改信息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831850" y="1084992"/>
            <a:ext cx="2352675" cy="1677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292"/>
              </a:lnSpc>
              <a:tabLst/>
            </a:pPr>
            <a:r>
              <a:rPr sz="53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Step.</a:t>
            </a:r>
            <a:r>
              <a:rPr sz="53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5300" dirty="0">
              <a:latin typeface="Arial"/>
              <a:ea typeface="Arial"/>
              <a:cs typeface="Arial"/>
            </a:endParaRPr>
          </a:p>
          <a:p>
            <a:pPr marL="101600" algn="l" rtl="0" eaLnBrk="0">
              <a:lnSpc>
                <a:spcPts val="5716"/>
              </a:lnSpc>
              <a:tabLst/>
            </a:pP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端</a:t>
            </a:r>
            <a:endParaRPr sz="3600" dirty="0">
              <a:latin typeface="FangSong"/>
              <a:ea typeface="FangSong"/>
              <a:cs typeface="FangSong"/>
            </a:endParaRPr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027900" y="311179"/>
            <a:ext cx="901700" cy="901684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20981313" y="422202"/>
            <a:ext cx="1080769" cy="723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4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40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4000" dirty="0">
              <a:latin typeface="SimHei"/>
              <a:ea typeface="SimHei"/>
              <a:cs typeface="SimHei"/>
            </a:endParaRPr>
          </a:p>
          <a:p>
            <a:pPr marL="30480" algn="l" rtl="0" eaLnBrk="0">
              <a:lnSpc>
                <a:spcPct val="82000"/>
              </a:lnSpc>
              <a:spcBef>
                <a:spcPts val="12"/>
              </a:spcBef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saikr.com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9531350" y="4394262"/>
            <a:ext cx="4483100" cy="8978837"/>
            <a:chOff x="0" y="0"/>
            <a:chExt cx="4483100" cy="8978837"/>
          </a:xfrm>
        </p:grpSpPr>
        <p:pic>
          <p:nvPicPr>
            <p:cNvPr id="182" name="picture 1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483100" cy="8978837"/>
            </a:xfrm>
            <a:prstGeom prst="rect">
              <a:avLst/>
            </a:prstGeom>
          </p:spPr>
        </p:pic>
        <p:sp>
          <p:nvSpPr>
            <p:cNvPr id="184" name="textbox 184"/>
            <p:cNvSpPr/>
            <p:nvPr/>
          </p:nvSpPr>
          <p:spPr>
            <a:xfrm>
              <a:off x="311149" y="347489"/>
              <a:ext cx="3853179" cy="76092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35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6000"/>
                </a:lnSpc>
                <a:tabLst/>
              </a:pPr>
              <a:r>
                <a:rPr sz="1000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Q</a:t>
              </a:r>
              <a:r>
                <a:rPr sz="10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000" kern="0" spc="1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请输入你感兴趣的内容~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0000"/>
                </a:lnSpc>
                <a:spcBef>
                  <a:spcPts val="336"/>
                </a:spcBef>
                <a:tabLst/>
              </a:pP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看榜单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发现竞赛</a:t>
              </a:r>
              <a:r>
                <a:rPr sz="1000" kern="0" spc="1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精彩活动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查成绩</a:t>
              </a:r>
              <a:r>
                <a:rPr sz="10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0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1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验证书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215"/>
                </a:lnSpc>
                <a:spcBef>
                  <a:spcPts val="515"/>
                </a:spcBef>
                <a:tabLst/>
              </a:pPr>
              <a:r>
                <a:rPr sz="17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推荐竞赛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 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</a:t>
              </a:r>
              <a:r>
                <a:rPr sz="1500" kern="0" spc="-60" baseline="-13859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500" kern="0" spc="-60" baseline="-13859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多</a:t>
              </a:r>
              <a:r>
                <a:rPr sz="1500" kern="0" spc="-60" baseline="-13859" dirty="0">
                  <a:solidFill>
                    <a:srgbClr val="C0103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〉</a:t>
              </a:r>
              <a:endParaRPr sz="1500" baseline="-13859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spcBef>
                  <a:spcPts val="338"/>
                </a:spcBef>
                <a:tabLst/>
              </a:pPr>
              <a:r>
                <a:rPr sz="1100" kern="0" spc="1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动态</a:t>
              </a:r>
              <a:r>
                <a:rPr sz="1100" kern="0" spc="1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100" dirty="0">
                  <a:solidFill>
                    <a:srgbClr val="E07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柯“海</a:t>
              </a:r>
              <a:r>
                <a:rPr sz="1100" kern="0" spc="10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刚刚报名了</a:t>
              </a:r>
              <a:r>
                <a:rPr sz="1100" kern="0" spc="100" dirty="0">
                  <a:solidFill>
                    <a:srgbClr val="E07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2025年全国大学生心理学…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0150" algn="l" rtl="0" eaLnBrk="0">
                <a:lnSpc>
                  <a:spcPts val="1268"/>
                </a:lnSpc>
                <a:spcBef>
                  <a:spcPts val="375"/>
                </a:spcBef>
                <a:tabLst/>
              </a:pPr>
              <a:r>
                <a:rPr sz="1900" kern="0" spc="80" baseline="3697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【大英赛主办方】20</a:t>
              </a:r>
              <a:r>
                <a:rPr sz="1900" kern="0" spc="80" baseline="3697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</a:t>
              </a:r>
              <a:r>
                <a:rPr sz="1900" kern="0" spc="80" baseline="3697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5年全国大</a:t>
              </a:r>
              <a:endParaRPr sz="1900" baseline="3697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0150" algn="l" rtl="0" eaLnBrk="0">
                <a:lnSpc>
                  <a:spcPct val="96000"/>
                </a:lnSpc>
                <a:spcBef>
                  <a:spcPts val="306"/>
                </a:spcBef>
                <a:tabLst/>
              </a:pPr>
              <a:r>
                <a:rPr sz="1000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报名时间：2025.09.02-</a:t>
              </a:r>
              <a:r>
                <a:rPr sz="1000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2025.12.10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0150" algn="l" rtl="0" eaLnBrk="0">
                <a:lnSpc>
                  <a:spcPct val="98000"/>
                </a:lnSpc>
                <a:spcBef>
                  <a:spcPts val="429"/>
                </a:spcBef>
                <a:tabLst/>
              </a:pPr>
              <a:r>
                <a:rPr sz="14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【</a:t>
              </a:r>
              <a:r>
                <a:rPr sz="1400" kern="0" spc="-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CATTI</a:t>
              </a:r>
              <a:r>
                <a:rPr sz="14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主办】</a:t>
              </a:r>
              <a:r>
                <a:rPr sz="14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2025年第三届多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02055" algn="l" rtl="0" eaLnBrk="0">
                <a:lnSpc>
                  <a:spcPct val="99000"/>
                </a:lnSpc>
                <a:spcBef>
                  <a:spcPts val="121"/>
                </a:spcBef>
                <a:tabLst/>
              </a:pPr>
              <a:r>
                <a:rPr sz="1200" b="1" kern="0" spc="1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语种词汇大赛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1200150" algn="l" rtl="0" eaLnBrk="0">
                <a:lnSpc>
                  <a:spcPts val="973"/>
                </a:lnSpc>
                <a:spcBef>
                  <a:spcPts val="685"/>
                </a:spcBef>
                <a:tabLst/>
              </a:pPr>
              <a:r>
                <a:rPr sz="800" kern="0" spc="11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202055" algn="l" rtl="0" eaLnBrk="0">
                <a:lnSpc>
                  <a:spcPct val="100000"/>
                </a:lnSpc>
                <a:spcBef>
                  <a:spcPts val="672"/>
                </a:spcBef>
                <a:tabLst/>
              </a:pPr>
              <a:r>
                <a:rPr sz="1100" b="1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</a:t>
              </a:r>
              <a:r>
                <a:rPr sz="1100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2025.10.28-2025.1123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0150" algn="l" rtl="0" eaLnBrk="0">
                <a:lnSpc>
                  <a:spcPct val="96000"/>
                </a:lnSpc>
                <a:spcBef>
                  <a:spcPts val="365"/>
                </a:spcBef>
                <a:tabLst/>
              </a:pP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2025年第五届《英语世界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全国大学生翻译大赛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00150" algn="l" rtl="0" eaLnBrk="0">
                <a:lnSpc>
                  <a:spcPts val="970"/>
                </a:lnSpc>
                <a:tabLst/>
              </a:pPr>
              <a:r>
                <a:rPr sz="800" kern="0" spc="120" dirty="0">
                  <a:solidFill>
                    <a:srgbClr val="F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热门竞赛</a:t>
              </a:r>
              <a:r>
                <a:rPr sz="800" kern="0" spc="0" dirty="0">
                  <a:solidFill>
                    <a:srgbClr val="F0802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</a:t>
              </a:r>
              <a:r>
                <a:rPr sz="800" kern="0" spc="120" dirty="0">
                  <a:solidFill>
                    <a:srgbClr val="F0802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14827250" y="4521137"/>
            <a:ext cx="4349750" cy="8756664"/>
            <a:chOff x="0" y="0"/>
            <a:chExt cx="4349750" cy="8756664"/>
          </a:xfrm>
        </p:grpSpPr>
        <p:pic>
          <p:nvPicPr>
            <p:cNvPr id="186" name="picture 18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349750" cy="8756664"/>
            </a:xfrm>
            <a:prstGeom prst="rect">
              <a:avLst/>
            </a:prstGeom>
          </p:spPr>
        </p:pic>
        <p:sp>
          <p:nvSpPr>
            <p:cNvPr id="188" name="textbox 188"/>
            <p:cNvSpPr/>
            <p:nvPr/>
          </p:nvSpPr>
          <p:spPr>
            <a:xfrm>
              <a:off x="38100" y="89270"/>
              <a:ext cx="4072254" cy="8629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9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0" algn="l" rtl="0" eaLnBrk="0">
                <a:lnSpc>
                  <a:spcPct val="95000"/>
                </a:lnSpc>
                <a:tabLst/>
              </a:pPr>
              <a:r>
                <a:rPr sz="16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Q  </a:t>
              </a:r>
              <a:r>
                <a:rPr sz="16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全国大学生英语竞赛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7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6000"/>
                </a:lnSpc>
                <a:spcBef>
                  <a:spcPts val="480"/>
                </a:spcBef>
                <a:tabLst/>
              </a:pPr>
              <a:r>
                <a:rPr sz="16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竞赛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8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38250" algn="l" rtl="0" eaLnBrk="0">
                <a:lnSpc>
                  <a:spcPct val="98000"/>
                </a:lnSpc>
                <a:spcBef>
                  <a:spcPts val="424"/>
                </a:spcBef>
                <a:tabLst/>
              </a:pPr>
              <a:r>
                <a:rPr sz="1400" kern="0" spc="1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2025年</a:t>
              </a:r>
              <a:r>
                <a:rPr sz="1400" kern="0" spc="12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</a:t>
              </a:r>
              <a:r>
                <a:rPr sz="1400" kern="0" spc="11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英语竞赛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57300" algn="l" rtl="0" eaLnBrk="0">
                <a:lnSpc>
                  <a:spcPts val="1421"/>
                </a:lnSpc>
                <a:spcBef>
                  <a:spcPts val="40"/>
                </a:spcBef>
                <a:tabLst/>
              </a:pPr>
              <a:r>
                <a:rPr sz="1100" kern="0" spc="-8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40155" algn="l" rtl="0" eaLnBrk="0">
                <a:lnSpc>
                  <a:spcPct val="100000"/>
                </a:lnSpc>
                <a:spcBef>
                  <a:spcPts val="331"/>
                </a:spcBef>
                <a:tabLst/>
              </a:pPr>
              <a:r>
                <a:rPr sz="1100" b="1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</a:t>
              </a:r>
              <a:r>
                <a:rPr sz="1100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2025.01.02</a:t>
              </a:r>
              <a:r>
                <a:rPr sz="1100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-2025.03.17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38250" algn="l" rtl="0" eaLnBrk="0">
                <a:lnSpc>
                  <a:spcPct val="98000"/>
                </a:lnSpc>
                <a:spcBef>
                  <a:spcPts val="429"/>
                </a:spcBef>
                <a:tabLst/>
              </a:pPr>
              <a:r>
                <a:rPr sz="1400" kern="0" spc="1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2024年</a:t>
              </a:r>
              <a:r>
                <a:rPr sz="1400" kern="0" spc="12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</a:t>
              </a:r>
              <a:r>
                <a:rPr sz="1400" kern="0" spc="11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英语竞赛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38250" algn="l" rtl="0" eaLnBrk="0">
                <a:lnSpc>
                  <a:spcPts val="973"/>
                </a:lnSpc>
                <a:spcBef>
                  <a:spcPts val="132"/>
                </a:spcBef>
                <a:tabLst/>
              </a:pPr>
              <a:r>
                <a:rPr sz="800" kern="0" spc="15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58419" algn="l" rtl="0" eaLnBrk="0">
                <a:lnSpc>
                  <a:spcPct val="99000"/>
                </a:lnSpc>
                <a:spcBef>
                  <a:spcPts val="15"/>
                </a:spcBef>
                <a:tabLst/>
              </a:pPr>
              <a:r>
                <a:rPr sz="12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学</a:t>
              </a:r>
              <a:r>
                <a:rPr sz="1200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生</a:t>
              </a:r>
              <a:r>
                <a:rPr sz="1200" kern="0" spc="2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200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英语竞赛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1240155" algn="l" rtl="0" eaLnBrk="0">
                <a:lnSpc>
                  <a:spcPct val="100000"/>
                </a:lnSpc>
                <a:spcBef>
                  <a:spcPts val="1233"/>
                </a:spcBef>
                <a:tabLst/>
              </a:pPr>
              <a:r>
                <a:rPr sz="1000" b="1" kern="0" spc="2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</a:t>
              </a:r>
              <a:r>
                <a:rPr sz="1000" kern="0" spc="2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2023.12.</a:t>
              </a:r>
              <a:r>
                <a:rPr sz="1000" kern="0" spc="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15-2024.03.17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38250" algn="l" rtl="0" eaLnBrk="0">
                <a:lnSpc>
                  <a:spcPct val="98000"/>
                </a:lnSpc>
                <a:spcBef>
                  <a:spcPts val="431"/>
                </a:spcBef>
                <a:tabLst/>
              </a:pPr>
              <a:r>
                <a:rPr sz="1400" kern="0" spc="1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2023年</a:t>
              </a:r>
              <a:r>
                <a:rPr sz="1400" kern="0" spc="12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</a:t>
              </a:r>
              <a:r>
                <a:rPr sz="1400" kern="0" spc="11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英语竞赛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38250" algn="l" rtl="0" eaLnBrk="0">
                <a:lnSpc>
                  <a:spcPct val="78000"/>
                </a:lnSpc>
                <a:spcBef>
                  <a:spcPts val="87"/>
                </a:spcBef>
                <a:tabLst/>
              </a:pPr>
              <a:r>
                <a:rPr sz="800" kern="0" spc="12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59055" algn="l" rtl="0" eaLnBrk="0">
                <a:lnSpc>
                  <a:spcPct val="91000"/>
                </a:lnSpc>
                <a:spcBef>
                  <a:spcPts val="16"/>
                </a:spcBef>
                <a:tabLst/>
              </a:pPr>
              <a:r>
                <a:rPr sz="1400" b="1" kern="0" spc="-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学生英语竞赛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40155" algn="l" rtl="0" eaLnBrk="0">
                <a:lnSpc>
                  <a:spcPct val="100000"/>
                </a:lnSpc>
                <a:spcBef>
                  <a:spcPts val="1297"/>
                </a:spcBef>
                <a:tabLst/>
              </a:pPr>
              <a:r>
                <a:rPr sz="1100" b="1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</a:t>
              </a:r>
              <a:r>
                <a:rPr sz="1100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2023.02.1</a:t>
              </a:r>
              <a:r>
                <a:rPr sz="1100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1-2023.04.09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38250" algn="l" rtl="0" eaLnBrk="0">
                <a:lnSpc>
                  <a:spcPct val="94000"/>
                </a:lnSpc>
                <a:spcBef>
                  <a:spcPts val="430"/>
                </a:spcBef>
                <a:tabLst/>
              </a:pPr>
              <a:r>
                <a:rPr sz="1400" kern="0" spc="1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2022年</a:t>
              </a:r>
              <a:r>
                <a:rPr sz="1400" kern="0" spc="12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</a:t>
              </a:r>
              <a:r>
                <a:rPr sz="1400" kern="0" spc="11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英语竞赛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38250" algn="l" rtl="0" eaLnBrk="0">
                <a:lnSpc>
                  <a:spcPts val="973"/>
                </a:lnSpc>
                <a:tabLst/>
              </a:pPr>
              <a:r>
                <a:rPr sz="800" kern="0" spc="15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59055" algn="l" rtl="0" eaLnBrk="0">
                <a:lnSpc>
                  <a:spcPct val="99000"/>
                </a:lnSpc>
                <a:spcBef>
                  <a:spcPts val="218"/>
                </a:spcBef>
                <a:tabLst/>
              </a:pPr>
              <a:r>
                <a:rPr sz="1100" b="1" kern="0" spc="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学生英语竞赛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240155" algn="l" rtl="0" eaLnBrk="0">
                <a:lnSpc>
                  <a:spcPct val="100000"/>
                </a:lnSpc>
                <a:spcBef>
                  <a:spcPts val="997"/>
                </a:spcBef>
                <a:tabLst/>
              </a:pPr>
              <a:r>
                <a:rPr sz="1100" b="1" kern="0" spc="-2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报名时间：2021.12.15-20</a:t>
              </a:r>
              <a:r>
                <a:rPr sz="1100" b="1" kern="0" spc="-3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22.04.15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38250" algn="l" rtl="0" eaLnBrk="0">
                <a:lnSpc>
                  <a:spcPct val="106000"/>
                </a:lnSpc>
                <a:spcBef>
                  <a:spcPts val="429"/>
                </a:spcBef>
                <a:tabLst/>
              </a:pPr>
              <a:r>
                <a:rPr sz="1400" kern="0" spc="8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全国大学生英语竞赛</a:t>
              </a:r>
              <a:r>
                <a:rPr sz="14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菁英志愿者全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1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国招募(第二期)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38250" algn="l" rtl="0" eaLnBrk="0">
                <a:lnSpc>
                  <a:spcPct val="96000"/>
                </a:lnSpc>
                <a:spcBef>
                  <a:spcPts val="328"/>
                </a:spcBef>
                <a:tabLst/>
              </a:pPr>
              <a:r>
                <a:rPr sz="1000" kern="0" spc="-4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marL="1237614" algn="l" rtl="0" eaLnBrk="0">
                <a:lnSpc>
                  <a:spcPct val="96000"/>
                </a:lnSpc>
                <a:spcBef>
                  <a:spcPts val="597"/>
                </a:spcBef>
                <a:tabLst/>
              </a:pPr>
              <a:r>
                <a:rPr sz="1000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报名时间：2021.03.09-</a:t>
              </a:r>
              <a:r>
                <a:rPr sz="1000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2021.04.10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38250" algn="l" rtl="0" eaLnBrk="0">
                <a:lnSpc>
                  <a:spcPct val="98000"/>
                </a:lnSpc>
                <a:spcBef>
                  <a:spcPts val="428"/>
                </a:spcBef>
                <a:tabLst/>
              </a:pPr>
              <a:r>
                <a:rPr sz="14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2021年</a:t>
              </a:r>
              <a:r>
                <a:rPr sz="1400" kern="0" spc="10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全国大学生英语竞赛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38250" algn="l" rtl="0" eaLnBrk="0">
                <a:lnSpc>
                  <a:spcPts val="973"/>
                </a:lnSpc>
                <a:spcBef>
                  <a:spcPts val="31"/>
                </a:spcBef>
                <a:tabLst/>
              </a:pPr>
              <a:r>
                <a:rPr sz="800" kern="0" spc="15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59055" algn="l" rtl="0" eaLnBrk="0">
                <a:lnSpc>
                  <a:spcPct val="99000"/>
                </a:lnSpc>
                <a:spcBef>
                  <a:spcPts val="168"/>
                </a:spcBef>
                <a:tabLst/>
              </a:pPr>
              <a:r>
                <a:rPr sz="11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学生英语竞赛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240155" algn="l" rtl="0" eaLnBrk="0">
                <a:lnSpc>
                  <a:spcPct val="100000"/>
                </a:lnSpc>
                <a:spcBef>
                  <a:spcPts val="1247"/>
                </a:spcBef>
                <a:tabLst/>
              </a:pPr>
              <a:r>
                <a:rPr sz="1100" b="1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</a:t>
              </a:r>
              <a:r>
                <a:rPr sz="1100" kern="0" spc="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2021.02.2</a:t>
              </a:r>
              <a:r>
                <a:rPr sz="1100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8-2021.03.30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38250" algn="l" rtl="0" eaLnBrk="0">
                <a:lnSpc>
                  <a:spcPct val="103000"/>
                </a:lnSpc>
                <a:spcBef>
                  <a:spcPts val="423"/>
                </a:spcBef>
                <a:tabLst/>
              </a:pPr>
              <a:r>
                <a:rPr sz="1400" kern="0" spc="8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全国大学生英语竞赛</a:t>
              </a:r>
              <a:r>
                <a:rPr sz="14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菁英志愿者全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国招募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38250" algn="l" rtl="0" eaLnBrk="0">
                <a:lnSpc>
                  <a:spcPts val="973"/>
                </a:lnSpc>
                <a:spcBef>
                  <a:spcPts val="471"/>
                </a:spcBef>
                <a:tabLst/>
              </a:pPr>
              <a:r>
                <a:rPr sz="800" kern="0" spc="150" dirty="0">
                  <a:solidFill>
                    <a:srgbClr val="F03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火热报名中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40155" algn="l" rtl="0" eaLnBrk="0">
                <a:lnSpc>
                  <a:spcPct val="100000"/>
                </a:lnSpc>
                <a:tabLst/>
              </a:pPr>
              <a:r>
                <a:rPr sz="1100" b="1" kern="0" spc="-10" dirty="0">
                  <a:solidFill>
                    <a:srgbClr val="808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报名时间：2021.02.04-2021.03.06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90" name="textbox 190"/>
          <p:cNvSpPr/>
          <p:nvPr/>
        </p:nvSpPr>
        <p:spPr>
          <a:xfrm>
            <a:off x="4184649" y="1717992"/>
            <a:ext cx="13494385" cy="2132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200" kern="0" spc="13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方式一：浏览器打开全</a:t>
            </a:r>
            <a:r>
              <a:rPr sz="3200" kern="0" spc="12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国大学生英语竞赛报名网址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2419350" algn="l" rtl="0" eaLnBrk="0">
              <a:lnSpc>
                <a:spcPts val="4293"/>
              </a:lnSpc>
              <a:spcBef>
                <a:spcPts val="86"/>
              </a:spcBef>
              <a:tabLst/>
            </a:pPr>
            <a:r>
              <a:rPr sz="3100" kern="0" spc="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3100" kern="0" spc="6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7080"/>
                      <wpsdc:folHlinkClr xmlns:wpsdc="http://www.wps.cn/officeDocument/2017/drawingmlCustomData" val="207080"/>
                      <wpsdc:hlinkUnderline xmlns:wpsdc="http://www.wps.cn/officeDocument/2017/drawingmlCustomData" val="0"/>
                    </a:ext>
                  </a:extLst>
                </a:hlinkClick>
              </a:rPr>
              <a:t>://  </a:t>
            </a:r>
            <a:r>
              <a:rPr sz="3100" b="1" kern="0" spc="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3100" b="1" kern="0" spc="6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3100" kern="0" spc="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saikr</a:t>
            </a:r>
            <a:r>
              <a:rPr sz="3100" kern="0" spc="6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3100" kern="0" spc="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3100" kern="0" spc="6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3100" kern="0" spc="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neccs</a:t>
            </a:r>
            <a:r>
              <a:rPr sz="3100" kern="0" spc="6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/2</a:t>
            </a:r>
            <a:r>
              <a:rPr sz="3100" kern="0" spc="50" dirty="0">
                <a:solidFill>
                  <a:srgbClr val="20808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08080"/>
                      <wpsdc:folHlinkClr xmlns:wpsdc="http://www.wps.cn/officeDocument/2017/drawingmlCustomData" val="208080"/>
                      <wpsdc:hlinkUnderline xmlns:wpsdc="http://www.wps.cn/officeDocument/2017/drawingmlCustomData" val="0"/>
                    </a:ext>
                  </a:extLst>
                </a:hlinkClick>
              </a:rPr>
              <a:t>026</a:t>
            </a:r>
            <a:endParaRPr sz="3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89"/>
              </a:spcBef>
              <a:tabLst/>
            </a:pPr>
            <a:r>
              <a:rPr sz="3200" kern="0" spc="21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方式二：手机端下载赛氪</a:t>
            </a:r>
            <a:r>
              <a:rPr sz="3200" kern="0" spc="0" dirty="0">
                <a:solidFill>
                  <a:srgbClr val="108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</a:t>
            </a:r>
            <a:r>
              <a:rPr sz="3200" kern="0" spc="-340" dirty="0">
                <a:solidFill>
                  <a:srgbClr val="108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21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搜索全国大学生英语竞赛(赛事准确</a:t>
            </a:r>
            <a:r>
              <a:rPr sz="3200" kern="0" spc="20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全称)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725"/>
              </a:spcBef>
              <a:tabLst/>
            </a:pPr>
            <a:r>
              <a:rPr sz="3200" kern="0" spc="12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方式三：扫描二维码</a:t>
            </a:r>
            <a:r>
              <a:rPr sz="3200" kern="0" spc="11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报名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3937063"/>
            <a:ext cx="3314700" cy="8058150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40250" y="4572000"/>
            <a:ext cx="3206750" cy="3289268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717550" y="1288336"/>
            <a:ext cx="2393950" cy="1496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5300" b="1" kern="0" spc="-4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Step.01</a:t>
            </a:r>
            <a:endParaRPr sz="5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3500" kern="0" spc="-1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</a:t>
            </a:r>
            <a:r>
              <a:rPr sz="3500" kern="0" spc="-470" dirty="0">
                <a:solidFill>
                  <a:srgbClr val="207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208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端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4832349" y="8156940"/>
            <a:ext cx="2554604" cy="487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200" kern="0" spc="110" dirty="0">
                <a:solidFill>
                  <a:srgbClr val="2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扫码立即报名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1107400" y="387334"/>
            <a:ext cx="908050" cy="901683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22067163" y="523786"/>
            <a:ext cx="1049019" cy="645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875"/>
              </a:lnSpc>
              <a:tabLst/>
            </a:pPr>
            <a:r>
              <a:rPr sz="2300" b="1" kern="0" spc="1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</a:t>
            </a:r>
            <a:r>
              <a:rPr sz="1300" b="1" kern="0" spc="-510" baseline="4224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</a:t>
            </a:r>
            <a:r>
              <a:rPr sz="1300" b="1" kern="0" spc="180" baseline="-378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300" baseline="-37887" dirty="0">
              <a:latin typeface="Arial"/>
              <a:ea typeface="Arial"/>
              <a:cs typeface="Arial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617436" y="536486"/>
            <a:ext cx="482091" cy="619031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11029950" y="9759322"/>
            <a:ext cx="226631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学生英语翻译大赛</a:t>
            </a:r>
            <a:r>
              <a:rPr sz="1300" kern="0" spc="5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NETCCS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14911342" y="10422401"/>
            <a:ext cx="1010919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3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7000"/>
              </a:lnSpc>
              <a:tabLst/>
            </a:pPr>
            <a:r>
              <a:rPr sz="800" b="1" kern="0" spc="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田大学生英语竞赛</a:t>
            </a:r>
            <a:r>
              <a:rPr sz="8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</a:t>
            </a:r>
            <a:r>
              <a:rPr sz="1100" kern="0" spc="2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</a:t>
            </a:r>
            <a:r>
              <a:rPr sz="1100" kern="0" spc="3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</a:t>
            </a:r>
            <a:r>
              <a:rPr sz="1100" kern="0" spc="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招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14909800" y="5942552"/>
            <a:ext cx="1090930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190" dirty="0">
                <a:solidFill>
                  <a:srgbClr val="809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全国大学生英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2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50" y="0"/>
            <a:ext cx="9207500" cy="6153197"/>
          </a:xfrm>
          <a:prstGeom prst="rect">
            <a:avLst/>
          </a:prstGeom>
        </p:spPr>
      </p:pic>
      <p:graphicFrame>
        <p:nvGraphicFramePr>
          <p:cNvPr id="216" name="table 216"/>
          <p:cNvGraphicFramePr>
            <a:graphicFrameLocks noGrp="1"/>
          </p:cNvGraphicFramePr>
          <p:nvPr/>
        </p:nvGraphicFramePr>
        <p:xfrm>
          <a:off x="12487275" y="3108356"/>
          <a:ext cx="5035550" cy="10286365"/>
        </p:xfrm>
        <a:graphic>
          <a:graphicData uri="http://schemas.openxmlformats.org/drawingml/2006/table">
            <a:tbl>
              <a:tblPr/>
              <a:tblGrid>
                <a:gridCol w="5035550"/>
              </a:tblGrid>
              <a:tr h="930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北京赛区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天津赛区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上海赛区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湖北赛区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江苏赛区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河北赛区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吉林赛区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黑龙江赛区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云南赛区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宁夏赛区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山西赛区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河南赛区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福建赛区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内蒙古赛区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广东赛区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四川赛区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江西赛区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安徽赛区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山东赛区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海南赛区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湖南赛区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8" name="textbox 218"/>
          <p:cNvSpPr/>
          <p:nvPr/>
        </p:nvSpPr>
        <p:spPr>
          <a:xfrm>
            <a:off x="1073150" y="1116361"/>
            <a:ext cx="16993235" cy="173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019"/>
              </a:lnSpc>
              <a:tabLst/>
            </a:pPr>
            <a:r>
              <a:rPr sz="51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Step.</a:t>
            </a:r>
            <a:r>
              <a:rPr sz="5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51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ct val="97000"/>
              </a:lnSpc>
              <a:spcBef>
                <a:spcPts val="1168"/>
              </a:spcBef>
              <a:tabLst/>
            </a:pPr>
            <a:r>
              <a:rPr sz="5100" kern="0" spc="-320" baseline="4085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</a:t>
            </a:r>
            <a:r>
              <a:rPr sz="3300" kern="0" spc="-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-320" baseline="4085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端</a:t>
            </a:r>
            <a:r>
              <a:rPr sz="3300" kern="0" spc="2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4500" kern="0" spc="-320" dirty="0">
                <a:solidFill>
                  <a:srgbClr val="107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如图所示，点击“赛区入口”,选</a:t>
            </a:r>
            <a:r>
              <a:rPr sz="4500" kern="0" spc="-330" dirty="0">
                <a:solidFill>
                  <a:srgbClr val="107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择自己学校所在的赛区；</a:t>
            </a:r>
            <a:endParaRPr sz="4500" dirty="0">
              <a:latin typeface="SimSun"/>
              <a:ea typeface="SimSun"/>
              <a:cs typeface="SimSun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4527549" y="8240650"/>
            <a:ext cx="4497070" cy="4119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651"/>
              </a:lnSpc>
              <a:tabLst/>
            </a:pPr>
            <a:r>
              <a:rPr sz="1300" b="1" kern="0" spc="-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通知：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657"/>
              </a:spcBef>
              <a:tabLst/>
            </a:pPr>
            <a:r>
              <a:rPr sz="1400" kern="0" spc="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网报系统退费退赛截止时间与报名截</a:t>
            </a:r>
            <a:r>
              <a:rPr sz="1400" kern="0" spc="4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止日期同为3月13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131000"/>
              </a:lnSpc>
              <a:tabLst/>
            </a:pPr>
            <a:r>
              <a:rPr sz="1400" b="1" kern="0" spc="6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日，请注意!报名结束</a:t>
            </a:r>
            <a:r>
              <a:rPr sz="1400" b="1" kern="0" spc="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后退费通道将永久关闭，请仔细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b="1" kern="0" spc="1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确认后再报名。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indent="431800" algn="l" rtl="0" eaLnBrk="0">
              <a:lnSpc>
                <a:spcPct val="126000"/>
              </a:lnSpc>
              <a:spcBef>
                <a:spcPts val="87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为了贯彻中共中央、国务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院《关于深化教育体制机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制改革的意见》和中共中央关于提高高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校教学质量和国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务院《深化新时代教育评价改革总体方案》,配合教育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部高等教育教学评估工作，落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实教育部关于高等院校英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语教学改革和考试与评价改革精神，促进大学各类英语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教学改革的实施，全面提高大学生英语综合运用能力，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8000"/>
              </a:lnSpc>
              <a:spcBef>
                <a:spcPts val="342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激发广大大学生学习英语的积极性，鼓励大学阶段英语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学习成绩优秀的大学生，推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动全国大学各阶段英语教学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质量上一个新台阶，全国高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等师范院校外语教学与研究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协作组决定联合举办2026年全国大学生英语竞赛(202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National</a:t>
            </a:r>
            <a:r>
              <a:rPr sz="14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nalish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Cnmnetition for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Collene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Stidents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4527550" y="3967288"/>
            <a:ext cx="4028440" cy="3827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58950" algn="l" rtl="0" eaLnBrk="0">
              <a:lnSpc>
                <a:spcPct val="92000"/>
              </a:lnSpc>
              <a:tabLst/>
            </a:pPr>
            <a:r>
              <a:rPr sz="2100" i="1" kern="0" spc="-10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已</a:t>
            </a:r>
            <a:r>
              <a:rPr sz="2100" kern="0" spc="-54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i="1" kern="0" spc="-10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</a:t>
            </a:r>
            <a:r>
              <a:rPr sz="2100" kern="0" spc="-58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i="1" kern="0" spc="-10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2000" i="1" kern="0" spc="-100" dirty="0">
                <a:solidFill>
                  <a:srgbClr val="504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2000" i="1" kern="0" spc="200" dirty="0">
                <a:solidFill>
                  <a:srgbClr val="504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i="1" kern="0" spc="-10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2000"/>
              </a:lnSpc>
              <a:spcBef>
                <a:spcPts val="629"/>
              </a:spcBef>
              <a:tabLst/>
            </a:pPr>
            <a:r>
              <a:rPr sz="2700" i="1" kern="0" spc="30" dirty="0">
                <a:solidFill>
                  <a:srgbClr val="5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国大学生英语竞赛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spcBef>
                <a:spcPts val="600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2026年全国大学生英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语竞赛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68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报名时间：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707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2025-12-1700:00~2026-03-1323:59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1111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比赛时间：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505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2026-04-1209:00~2026-04-1211:00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1107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主办方：</a:t>
            </a:r>
            <a:r>
              <a:rPr sz="1200" kern="0" spc="-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40" dirty="0">
                <a:solidFill>
                  <a:srgbClr val="707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全国高等师范院校外语教学与研究协作组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2239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竞赛详情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436100" y="11817334"/>
            <a:ext cx="1993900" cy="895397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977350" y="431768"/>
            <a:ext cx="901700" cy="89539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7797800" y="12382548"/>
            <a:ext cx="1339850" cy="539638"/>
            <a:chOff x="0" y="0"/>
            <a:chExt cx="1339850" cy="539638"/>
          </a:xfrm>
        </p:grpSpPr>
        <p:pic>
          <p:nvPicPr>
            <p:cNvPr id="228" name="picture 22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339850" cy="539638"/>
            </a:xfrm>
            <a:prstGeom prst="rect">
              <a:avLst/>
            </a:prstGeom>
          </p:spPr>
        </p:pic>
        <p:sp>
          <p:nvSpPr>
            <p:cNvPr id="230" name="textbox 230"/>
            <p:cNvSpPr/>
            <p:nvPr/>
          </p:nvSpPr>
          <p:spPr>
            <a:xfrm>
              <a:off x="-12700" y="-12700"/>
              <a:ext cx="136525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9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99000"/>
                </a:lnSpc>
                <a:tabLst/>
              </a:pPr>
              <a:r>
                <a:rPr sz="1400" kern="0" spc="1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赛区入口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32" name="textbox 232"/>
          <p:cNvSpPr/>
          <p:nvPr/>
        </p:nvSpPr>
        <p:spPr>
          <a:xfrm>
            <a:off x="22911713" y="574651"/>
            <a:ext cx="1061719" cy="696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17525" algn="l" rtl="0" eaLnBrk="0">
              <a:lnSpc>
                <a:spcPts val="574"/>
              </a:lnSpc>
              <a:spcBef>
                <a:spcPts val="5"/>
              </a:spcBef>
              <a:tabLst>
                <a:tab pos="529590" algn="l"/>
              </a:tabLst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300" b="1" kern="0" spc="-10" baseline="-4893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300" baseline="-48931" dirty="0">
              <a:latin typeface="Arial"/>
              <a:ea typeface="Arial"/>
              <a:cs typeface="Arial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3489649" y="587351"/>
            <a:ext cx="482091" cy="625513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924413" y="587351"/>
            <a:ext cx="505296" cy="625513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6756400" y="12363401"/>
            <a:ext cx="965200" cy="533495"/>
            <a:chOff x="0" y="0"/>
            <a:chExt cx="965200" cy="533495"/>
          </a:xfrm>
        </p:grpSpPr>
        <p:pic>
          <p:nvPicPr>
            <p:cNvPr id="238" name="picture 23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965200" cy="533495"/>
            </a:xfrm>
            <a:prstGeom prst="rect">
              <a:avLst/>
            </a:prstGeom>
          </p:spPr>
        </p:pic>
        <p:sp>
          <p:nvSpPr>
            <p:cNvPr id="240" name="textbox 240"/>
            <p:cNvSpPr/>
            <p:nvPr/>
          </p:nvSpPr>
          <p:spPr>
            <a:xfrm>
              <a:off x="-12700" y="-12700"/>
              <a:ext cx="990600" cy="5791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99000"/>
                </a:lnSpc>
                <a:spcBef>
                  <a:spcPts val="4"/>
                </a:spcBef>
                <a:tabLst/>
              </a:pPr>
              <a:r>
                <a:rPr sz="1200" kern="0" spc="1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官方书籍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42" name="textbox 242"/>
          <p:cNvSpPr/>
          <p:nvPr/>
        </p:nvSpPr>
        <p:spPr>
          <a:xfrm>
            <a:off x="4629149" y="12985004"/>
            <a:ext cx="2295525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2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 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由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工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八子工天口元页。</a:t>
            </a:r>
            <a:endParaRPr sz="1200" dirty="0">
              <a:latin typeface="LiSu"/>
              <a:ea typeface="LiSu"/>
              <a:cs typeface="LiSu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10100" y="12439697"/>
            <a:ext cx="508000" cy="3809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sp>
        <p:nvSpPr>
          <p:cNvPr id="248" name="rect 248"/>
          <p:cNvSpPr/>
          <p:nvPr/>
        </p:nvSpPr>
        <p:spPr>
          <a:xfrm>
            <a:off x="6108700" y="12909613"/>
            <a:ext cx="514350" cy="406336"/>
          </a:xfrm>
          <a:prstGeom prst="rect">
            <a:avLst/>
          </a:prstGeom>
          <a:solidFill>
            <a:srgbClr val="E6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textbox 250"/>
          <p:cNvSpPr/>
          <p:nvPr/>
        </p:nvSpPr>
        <p:spPr>
          <a:xfrm>
            <a:off x="5073649" y="5771534"/>
            <a:ext cx="4806315" cy="8011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4000"/>
              </a:lnSpc>
              <a:tabLst/>
            </a:pPr>
            <a:r>
              <a:rPr sz="20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2026年全国大学生英语竞赛贵州赛区</a:t>
            </a:r>
            <a:endParaRPr sz="2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58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报名时间：2025-12-1700:00~2026-03-1323:59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990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比赛时间：2026-04-1209:00~2026-04-1211:00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00000"/>
              </a:lnSpc>
              <a:spcBef>
                <a:spcPts val="996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主办方：全国高等师范院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校外语教学与研究协作组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3189" algn="l" rtl="0" eaLnBrk="0">
              <a:lnSpc>
                <a:spcPct val="95000"/>
              </a:lnSpc>
              <a:spcBef>
                <a:spcPts val="459"/>
              </a:spcBef>
              <a:tabLst/>
            </a:pP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竞</a:t>
            </a: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赛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详</a:t>
            </a: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0640" algn="l" rtl="0" eaLnBrk="0">
              <a:lnSpc>
                <a:spcPct val="96000"/>
              </a:lnSpc>
              <a:spcBef>
                <a:spcPts val="452"/>
              </a:spcBef>
              <a:tabLst/>
            </a:pP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通知</a:t>
            </a:r>
            <a:r>
              <a:rPr sz="1500" kern="0" spc="-3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40640" algn="l" rtl="0" eaLnBrk="0">
              <a:lnSpc>
                <a:spcPct val="121000"/>
              </a:lnSpc>
              <a:spcBef>
                <a:spcPts val="181"/>
              </a:spcBef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网报系统退费退赛截止时间与报名截止日期同为3月1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日，请注意!报名结束后退费通道将永久关闭，请仔细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确认后再报名。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2700" indent="425450" algn="l" rtl="0" eaLnBrk="0">
              <a:lnSpc>
                <a:spcPct val="127000"/>
              </a:lnSpc>
              <a:spcBef>
                <a:spcPts val="103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为了贯彻中共中央、国务院《关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于深化教育体制机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制改革的意见》和中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共中央关于提高高校教学质量和国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务院《深化新时代教育评价改革总体方案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》,配合教育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部高等教育教学评估工作，落实教育部关于高等院校英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语教学改革和考试与评价改革精神，促进大学各类英语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教学改革的实施，全面提高大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学生英语综合运用能力，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激发广大大学生学习英语的积极性，鼓励大学阶段英语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学习成绩优秀的大学生，推动全国大学各阶段英语教学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质量上一个新台阶，全国高等师范院校外语教学与研究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协作组决定联合举办2026年全国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大学生英语竞赛(202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21"/>
              </a:lnSpc>
              <a:spcBef>
                <a:spcPts val="657"/>
              </a:spcBef>
              <a:tabLst/>
            </a:pP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National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Fnalich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Comnetition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for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Collene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Students</a:t>
            </a:r>
            <a:endParaRPr sz="1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76200" indent="387350" algn="l" rtl="0" eaLnBrk="0">
              <a:lnSpc>
                <a:spcPct val="149000"/>
              </a:lnSpc>
              <a:spcBef>
                <a:spcPts val="1"/>
              </a:spcBef>
              <a:tabLst/>
            </a:pPr>
            <a:r>
              <a:rPr sz="1300" kern="0" spc="-30" baseline="48081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</a:t>
            </a:r>
            <a:r>
              <a:rPr sz="1700" kern="0" spc="-30" baseline="3676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官方书籍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2300" kern="0" spc="-30" baseline="-679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各</a:t>
            </a:r>
            <a:r>
              <a:rPr sz="1400" kern="0" spc="-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kern="0" spc="-30" baseline="-679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校</a:t>
            </a:r>
            <a:r>
              <a:rPr sz="1400" kern="0" spc="-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kern="0" spc="-30" baseline="-679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入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kern="0" spc="-30" baseline="-679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口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田工</a:t>
            </a:r>
            <a:r>
              <a:rPr sz="1500" kern="0" spc="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八于一天口元页。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13315948" y="3899646"/>
            <a:ext cx="5027929" cy="6222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4000"/>
              </a:lnSpc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贵州黔南科技学院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4000"/>
              </a:lnSpc>
              <a:spcBef>
                <a:spcPts val="456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贵州中医药大学时珍学院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4000"/>
              </a:lnSpc>
              <a:spcBef>
                <a:spcPts val="457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贵阳信息科技学院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5000"/>
              </a:lnSpc>
              <a:spcBef>
                <a:spcPts val="453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六盘水师范学院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56"/>
              </a:spcBef>
              <a:tabLst/>
            </a:pP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铜仁学院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4000"/>
              </a:lnSpc>
              <a:spcBef>
                <a:spcPts val="452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贵州民族大学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50"/>
              </a:spcBef>
              <a:tabLst/>
            </a:pP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贵州大学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54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遵义医科大学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55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黔南民族师范学院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4000"/>
              </a:lnSpc>
              <a:spcBef>
                <a:spcPts val="452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贵州经贸职业技术学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60"/>
              </a:spcBef>
              <a:tabLst/>
            </a:pP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贵阳学院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61"/>
              </a:spcBef>
              <a:tabLst/>
            </a:pPr>
            <a:r>
              <a:rPr sz="15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凯里学院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139000"/>
              </a:lnSpc>
              <a:spcBef>
                <a:spcPts val="2"/>
              </a:spcBef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说明：线上报考的赛区或学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校正在陆续开通中，未找到报名入口可先咨询您所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在赛区或学校相关负责人</a:t>
            </a:r>
            <a:endParaRPr sz="1100" dirty="0">
              <a:latin typeface="SimSun"/>
              <a:ea typeface="SimSun"/>
              <a:cs typeface="SimSun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1028700" y="1334849"/>
            <a:ext cx="14824075" cy="1776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769"/>
              </a:lnSpc>
              <a:tabLst/>
            </a:pPr>
            <a:r>
              <a:rPr sz="57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Step.</a:t>
            </a:r>
            <a:r>
              <a:rPr sz="5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5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226"/>
              </a:lnSpc>
              <a:spcBef>
                <a:spcPts val="785"/>
              </a:spcBef>
              <a:tabLst/>
            </a:pPr>
            <a:r>
              <a:rPr sz="5300" kern="0" spc="0" baseline="29604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</a:t>
            </a:r>
            <a:r>
              <a:rPr sz="5300" kern="0" spc="230" baseline="29604" dirty="0">
                <a:solidFill>
                  <a:srgbClr val="FFFFFF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端</a:t>
            </a:r>
            <a:r>
              <a:rPr sz="3400" kern="0" spc="230" dirty="0">
                <a:solidFill>
                  <a:srgbClr val="FFFFFF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       </a:t>
            </a:r>
            <a:r>
              <a:rPr sz="4300" b="1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点击“各校入口”,选择自己学</a:t>
            </a:r>
            <a:r>
              <a:rPr sz="4300" b="1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校的报名页面</a:t>
            </a:r>
            <a:endParaRPr sz="4300" dirty="0">
              <a:latin typeface="SimSun"/>
              <a:ea typeface="SimSun"/>
              <a:cs typeface="SimSun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5619483" y="3989641"/>
            <a:ext cx="3837940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55394" algn="l" rtl="0" eaLnBrk="0">
              <a:lnSpc>
                <a:spcPct val="92000"/>
              </a:lnSpc>
              <a:tabLst/>
            </a:pPr>
            <a:r>
              <a:rPr sz="2500" b="1" kern="0" spc="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已02G年</a:t>
            </a:r>
            <a:endParaRPr sz="2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33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全国大学生英语竞赛</a:t>
            </a:r>
            <a:endParaRPr sz="3300" dirty="0">
              <a:latin typeface="SimSun"/>
              <a:ea typeface="SimSun"/>
              <a:cs typeface="SimSun"/>
            </a:endParaRPr>
          </a:p>
        </p:txBody>
      </p:sp>
      <p:sp>
        <p:nvSpPr>
          <p:cNvPr id="258" name="rect 258"/>
          <p:cNvSpPr/>
          <p:nvPr/>
        </p:nvSpPr>
        <p:spPr>
          <a:xfrm>
            <a:off x="10236200" y="12172950"/>
            <a:ext cx="2025650" cy="876252"/>
          </a:xfrm>
          <a:prstGeom prst="rect">
            <a:avLst/>
          </a:prstGeom>
          <a:solidFill>
            <a:srgbClr val="E5E5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393150" y="355615"/>
            <a:ext cx="996950" cy="971550"/>
          </a:xfrm>
          <a:prstGeom prst="rect">
            <a:avLst/>
          </a:prstGeom>
        </p:spPr>
      </p:pic>
      <p:sp>
        <p:nvSpPr>
          <p:cNvPr id="262" name="textbox 262"/>
          <p:cNvSpPr/>
          <p:nvPr/>
        </p:nvSpPr>
        <p:spPr>
          <a:xfrm>
            <a:off x="22436554" y="468154"/>
            <a:ext cx="1166494" cy="794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6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4600" b="1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4600" dirty="0">
              <a:latin typeface="SimHei"/>
              <a:ea typeface="SimHei"/>
              <a:cs typeface="SimHei"/>
            </a:endParaRPr>
          </a:p>
          <a:p>
            <a:pPr marL="29209" algn="l" rtl="0" eaLnBrk="0">
              <a:lnSpc>
                <a:spcPct val="80000"/>
              </a:lnSpc>
              <a:spcBef>
                <a:spcPts val="5"/>
              </a:spcBef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Soikr.com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7518400" y="4998618"/>
            <a:ext cx="1409700" cy="619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678"/>
              </a:lnSpc>
              <a:tabLst/>
            </a:pPr>
            <a:r>
              <a:rPr sz="38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</a:t>
            </a:r>
            <a:r>
              <a:rPr sz="3800" kern="0" spc="17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800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</a:t>
            </a:r>
            <a:endParaRPr sz="3800" dirty="0">
              <a:latin typeface="SimSun"/>
              <a:ea typeface="SimSun"/>
              <a:cs typeface="SimSun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5822949" y="5044703"/>
            <a:ext cx="1704975" cy="309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协单位：全国高导辆北好外再饮学与研究协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作组</a:t>
            </a:r>
            <a:endParaRPr sz="6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承力单位：全国大学生英追宽</a:t>
            </a:r>
            <a:r>
              <a:rPr sz="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素组织委员会</a:t>
            </a:r>
            <a:endParaRPr sz="6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4978399" y="1903445"/>
            <a:ext cx="12553950" cy="6230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4700" kern="0" spc="-310" dirty="0">
                <a:solidFill>
                  <a:srgbClr val="108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点击的“立即报名”按钮，进入报名和缴费页面；</a:t>
            </a:r>
            <a:endParaRPr sz="4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708900" algn="l" rtl="0" eaLnBrk="0">
              <a:lnSpc>
                <a:spcPct val="96000"/>
              </a:lnSpc>
              <a:spcBef>
                <a:spcPts val="696"/>
              </a:spcBef>
              <a:tabLst/>
            </a:pPr>
            <a:r>
              <a:rPr sz="2300" kern="0" spc="-40" dirty="0">
                <a:solidFill>
                  <a:srgbClr val="C09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</a:t>
            </a:r>
            <a:r>
              <a:rPr sz="2300" kern="0" spc="890" dirty="0">
                <a:solidFill>
                  <a:srgbClr val="C09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-40" dirty="0">
                <a:solidFill>
                  <a:srgbClr val="C09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2300" kern="0" spc="-40" dirty="0">
                <a:solidFill>
                  <a:srgbClr val="C09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6530340" algn="l" rtl="0" eaLnBrk="0">
              <a:lnSpc>
                <a:spcPct val="92000"/>
              </a:lnSpc>
              <a:spcBef>
                <a:spcPts val="577"/>
              </a:spcBef>
              <a:tabLst/>
            </a:pPr>
            <a:r>
              <a:rPr sz="3300" i="1" kern="0" spc="-190" dirty="0">
                <a:solidFill>
                  <a:srgbClr val="8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全国大学生英语竞赛</a:t>
            </a:r>
            <a:endParaRPr sz="3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21375" algn="l" rtl="0" eaLnBrk="0">
              <a:lnSpc>
                <a:spcPct val="97000"/>
              </a:lnSpc>
              <a:spcBef>
                <a:spcPts val="637"/>
              </a:spcBef>
              <a:tabLst/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2026年全国大学生英语竞赛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5922009" algn="l" rtl="0" eaLnBrk="0">
              <a:lnSpc>
                <a:spcPct val="97000"/>
              </a:lnSpc>
              <a:spcBef>
                <a:spcPts val="156"/>
              </a:spcBef>
              <a:tabLst/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学分赛区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18200" algn="l" rtl="0" eaLnBrk="0">
              <a:lnSpc>
                <a:spcPct val="99000"/>
              </a:lnSpc>
              <a:spcBef>
                <a:spcPts val="420"/>
              </a:spcBef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比赛时间：</a:t>
            </a:r>
            <a:r>
              <a:rPr sz="1400" kern="0" spc="10" dirty="0">
                <a:solidFill>
                  <a:srgbClr val="404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2026-04-1209:00~2026-04-1211:00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918200" algn="l" rtl="0" eaLnBrk="0">
              <a:lnSpc>
                <a:spcPct val="98000"/>
              </a:lnSpc>
              <a:spcBef>
                <a:spcPts val="1233"/>
              </a:spcBef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主办方：</a:t>
            </a:r>
            <a:r>
              <a:rPr sz="1400" kern="0" spc="-90" dirty="0">
                <a:solidFill>
                  <a:srgbClr val="404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全国高等师范院校外语教学与研究协作组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060440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竞赛详情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0883899" y="8647572"/>
            <a:ext cx="4693284" cy="413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817"/>
              </a:lnSpc>
              <a:tabLst/>
            </a:pPr>
            <a:r>
              <a:rPr sz="1400" b="1" kern="0" spc="-70" dirty="0">
                <a:solidFill>
                  <a:srgbClr val="E01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通知：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124000"/>
              </a:lnSpc>
              <a:spcBef>
                <a:spcPts val="25"/>
              </a:spcBef>
              <a:tabLst/>
            </a:pPr>
            <a:r>
              <a:rPr sz="1600" b="1" kern="0" spc="-90" dirty="0">
                <a:solidFill>
                  <a:srgbClr val="F01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网报系统退费退赛截止时间与报名截止日期同为3月13</a:t>
            </a:r>
            <a:r>
              <a:rPr sz="1600" kern="0" spc="20" dirty="0">
                <a:solidFill>
                  <a:srgbClr val="F01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600" b="1" kern="0" spc="-80" dirty="0">
                <a:solidFill>
                  <a:srgbClr val="F01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日，请注意!报名结束后退费通道将永久关闭，请仔细</a:t>
            </a:r>
            <a:r>
              <a:rPr sz="1600" kern="0" spc="30" dirty="0">
                <a:solidFill>
                  <a:srgbClr val="F01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600" b="1" kern="0" spc="-100" dirty="0">
                <a:solidFill>
                  <a:srgbClr val="F01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确认后再报名。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indent="450850" algn="l" rtl="0" eaLnBrk="0">
              <a:lnSpc>
                <a:spcPct val="124000"/>
              </a:lnSpc>
              <a:spcBef>
                <a:spcPts val="127"/>
              </a:spcBef>
              <a:tabLst/>
            </a:pP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为了贯彻中共中央、国务院《关于深化教育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体制机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制改革的意见》和中共中央关于提高高校教学质量和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务院《深化新时代教育评价改革总体方案》,配合教育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部高等教育教学评估工作，落实教育部关于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高等院校英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语教学改革和考试与评价改革精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神，促进大学各类英语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教学改革的实施，全面提高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大学生英语综合运用能力，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激发广大大学生学习英语的积极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性，鼓励大学阶段英语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学习成绩优秀的大学生，推动全国大学各阶段英语教学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7000"/>
              </a:lnSpc>
              <a:spcBef>
                <a:spcPts val="1545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质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上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台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阶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笙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师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贮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林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外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4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决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联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举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办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200" kern="0" spc="5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E01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报名截止聘</a:t>
            </a:r>
            <a:r>
              <a:rPr sz="1200" kern="0" spc="20" dirty="0">
                <a:solidFill>
                  <a:srgbClr val="E01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10" dirty="0">
                <a:solidFill>
                  <a:srgbClr val="E02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■</a:t>
            </a:r>
            <a:r>
              <a:rPr sz="1200" kern="0" spc="0" dirty="0">
                <a:solidFill>
                  <a:srgbClr val="E02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200" kern="0" spc="10" dirty="0">
                <a:solidFill>
                  <a:srgbClr val="E02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■</a:t>
            </a:r>
            <a:r>
              <a:rPr sz="1200" kern="0" spc="0" dirty="0">
                <a:solidFill>
                  <a:srgbClr val="E02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200" kern="0" spc="10" dirty="0">
                <a:solidFill>
                  <a:srgbClr val="E02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■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57800" y="11353848"/>
            <a:ext cx="3346450" cy="2635186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06500" y="11849052"/>
            <a:ext cx="2990850" cy="2063829"/>
          </a:xfrm>
          <a:prstGeom prst="rect">
            <a:avLst/>
          </a:prstGeom>
        </p:spPr>
      </p:pic>
      <p:sp>
        <p:nvSpPr>
          <p:cNvPr id="278" name="textbox 278"/>
          <p:cNvSpPr/>
          <p:nvPr/>
        </p:nvSpPr>
        <p:spPr>
          <a:xfrm>
            <a:off x="628650" y="1448799"/>
            <a:ext cx="2545079" cy="1551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96"/>
              </a:lnSpc>
              <a:tabLst/>
            </a:pPr>
            <a:r>
              <a:rPr sz="55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r>
              <a:rPr sz="5500" b="1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5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55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ts val="4520"/>
              </a:lnSpc>
              <a:tabLst/>
            </a:pPr>
            <a:r>
              <a:rPr sz="32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</a:t>
            </a:r>
            <a:r>
              <a:rPr sz="32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端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10883900" y="13586269"/>
            <a:ext cx="461772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兄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贷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禹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」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篮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子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厶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皿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争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十</a:t>
            </a:r>
            <a:r>
              <a:rPr sz="1000" kern="0" spc="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田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兄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贷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33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十八届全国大学生共语亮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赛。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96200" y="190451"/>
            <a:ext cx="1009650" cy="1009698"/>
          </a:xfrm>
          <a:prstGeom prst="rect">
            <a:avLst/>
          </a:prstGeom>
        </p:spPr>
      </p:pic>
      <p:sp>
        <p:nvSpPr>
          <p:cNvPr id="284" name="textbox 284"/>
          <p:cNvSpPr/>
          <p:nvPr/>
        </p:nvSpPr>
        <p:spPr>
          <a:xfrm>
            <a:off x="21458654" y="283988"/>
            <a:ext cx="1166494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4600" b="1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4600" dirty="0">
              <a:latin typeface="SimHei"/>
              <a:ea typeface="SimHei"/>
              <a:cs typeface="SimHei"/>
            </a:endParaRPr>
          </a:p>
          <a:p>
            <a:pPr marL="35559" algn="l" rtl="0" eaLnBrk="0">
              <a:lnSpc>
                <a:spcPct val="80000"/>
              </a:lnSpc>
              <a:spcBef>
                <a:spcPts val="11"/>
              </a:spcBef>
              <a:tabLst/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soikr.com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14370050" y="12858750"/>
            <a:ext cx="1282700" cy="615934"/>
            <a:chOff x="0" y="0"/>
            <a:chExt cx="1282700" cy="615934"/>
          </a:xfrm>
        </p:grpSpPr>
        <p:pic>
          <p:nvPicPr>
            <p:cNvPr id="286" name="picture 28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282700" cy="615934"/>
            </a:xfrm>
            <a:prstGeom prst="rect">
              <a:avLst/>
            </a:prstGeom>
          </p:spPr>
        </p:pic>
        <p:sp>
          <p:nvSpPr>
            <p:cNvPr id="288" name="textbox 288"/>
            <p:cNvSpPr/>
            <p:nvPr/>
          </p:nvSpPr>
          <p:spPr>
            <a:xfrm>
              <a:off x="-12700" y="-12700"/>
              <a:ext cx="1308100" cy="6699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5900" algn="l" rtl="0" eaLnBrk="0">
                <a:lnSpc>
                  <a:spcPct val="96000"/>
                </a:lnSpc>
                <a:tabLst/>
              </a:pPr>
              <a:r>
                <a:rPr sz="1600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立即报名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13201650" y="12884181"/>
            <a:ext cx="996950" cy="590502"/>
            <a:chOff x="0" y="0"/>
            <a:chExt cx="996950" cy="590502"/>
          </a:xfrm>
        </p:grpSpPr>
        <p:pic>
          <p:nvPicPr>
            <p:cNvPr id="290" name="picture 29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996950" cy="590502"/>
            </a:xfrm>
            <a:prstGeom prst="rect">
              <a:avLst/>
            </a:prstGeom>
          </p:spPr>
        </p:pic>
        <p:sp>
          <p:nvSpPr>
            <p:cNvPr id="292" name="textbox 292"/>
            <p:cNvSpPr/>
            <p:nvPr/>
          </p:nvSpPr>
          <p:spPr>
            <a:xfrm>
              <a:off x="-12700" y="-12700"/>
              <a:ext cx="1022350" cy="6394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114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官方书籍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94" name="picture 2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979150" y="12985765"/>
            <a:ext cx="558800" cy="412765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938000" y="12979336"/>
            <a:ext cx="527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picture 2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5393650" cy="14287500"/>
          </a:xfrm>
          <a:prstGeom prst="rect">
            <a:avLst/>
          </a:prstGeom>
        </p:spPr>
      </p:pic>
      <p:graphicFrame>
        <p:nvGraphicFramePr>
          <p:cNvPr id="300" name="table 300"/>
          <p:cNvGraphicFramePr>
            <a:graphicFrameLocks noGrp="1"/>
          </p:cNvGraphicFramePr>
          <p:nvPr/>
        </p:nvGraphicFramePr>
        <p:xfrm>
          <a:off x="10664825" y="3444828"/>
          <a:ext cx="4673600" cy="10464165"/>
        </p:xfrm>
        <a:graphic>
          <a:graphicData uri="http://schemas.openxmlformats.org/drawingml/2006/table">
            <a:tbl>
              <a:tblPr/>
              <a:tblGrid>
                <a:gridCol w="4587875"/>
                <a:gridCol w="85725"/>
              </a:tblGrid>
              <a:tr h="6064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5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手机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号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ts val="241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7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邮箱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身份证号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50" dirty="0">
                          <a:solidFill>
                            <a:srgbClr val="C0B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报名学生身份证号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0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865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50" dirty="0">
                          <a:solidFill>
                            <a:srgbClr val="D02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港澳台学生使用港澳通行证(或称：回乡证)上的证件号码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指导教师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60" dirty="0">
                          <a:solidFill>
                            <a:srgbClr val="C0B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请填写指导教师姓名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校区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3000" kern="0" spc="20" baseline="-20835" dirty="0">
                          <a:solidFill>
                            <a:srgbClr val="10D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</a:t>
                      </a:r>
                      <a:r>
                        <a:rPr sz="1900" kern="0" spc="200" dirty="0">
                          <a:solidFill>
                            <a:srgbClr val="10D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900" kern="0" spc="20" baseline="822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新蒲校区</a:t>
                      </a:r>
                      <a:endParaRPr sz="1900" baseline="8224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报考类别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287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0C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</a:t>
                      </a:r>
                      <a:r>
                        <a:rPr sz="1200" kern="0" spc="50" dirty="0">
                          <a:solidFill>
                            <a:srgbClr val="10C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类-适用于英语专业本、专科学生参加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2875" algn="l" rtl="0" eaLnBrk="0">
                        <a:lnSpc>
                          <a:spcPct val="98000"/>
                        </a:lnSpc>
                        <a:spcBef>
                          <a:spcPts val="36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0B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</a:t>
                      </a:r>
                      <a:r>
                        <a:rPr sz="1200" kern="0" spc="50" dirty="0">
                          <a:solidFill>
                            <a:srgbClr val="10B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类-适用于非英语专业本科生参加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algn="l" rtl="0" eaLnBrk="0">
                        <a:lnSpc>
                          <a:spcPct val="98000"/>
                        </a:lnSpc>
                        <a:spcBef>
                          <a:spcPts val="36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0D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</a:t>
                      </a:r>
                      <a:r>
                        <a:rPr sz="1200" kern="0" spc="50" dirty="0">
                          <a:solidFill>
                            <a:srgbClr val="10D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类-适用于体育类和艺术类本科生和非英语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专业高职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高专类学生参加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83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B03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注</a:t>
                      </a:r>
                      <a:r>
                        <a:rPr sz="1200" kern="0" spc="60" dirty="0">
                          <a:solidFill>
                            <a:srgbClr val="D01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意：严禁跨类别报名!跨类别参赛成绩</a:t>
                      </a:r>
                      <a:r>
                        <a:rPr sz="1200" kern="0" spc="50" dirty="0">
                          <a:solidFill>
                            <a:srgbClr val="D01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视为无效!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05225" algn="l" rtl="0" eaLnBrk="0">
                        <a:lnSpc>
                          <a:spcPct val="97000"/>
                        </a:lnSpc>
                        <a:spcBef>
                          <a:spcPts val="609"/>
                        </a:spcBef>
                        <a:tabLst/>
                      </a:pP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下一步</a:t>
                      </a:r>
                      <a:r>
                        <a:rPr sz="2000" kern="0" spc="40" dirty="0">
                          <a:solidFill>
                            <a:srgbClr val="10C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&gt;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0775" indent="-393700" algn="l" rtl="0" eaLnBrk="0">
                        <a:lnSpc>
                          <a:spcPct val="10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本竞赛最终解释权归全国大学生英语竞赛组委会所有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咨询竞赛报名相关事宜请联系刘军老师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15389" algn="l" rtl="0" eaLnBrk="0">
                        <a:lnSpc>
                          <a:spcPct val="96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电话：010-88375225;883758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49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888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电子信箱：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neccs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@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tefl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china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.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net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2" name="picture 3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700" y="0"/>
            <a:ext cx="5861050" cy="5772150"/>
          </a:xfrm>
          <a:prstGeom prst="rect">
            <a:avLst/>
          </a:prstGeom>
        </p:spPr>
      </p:pic>
      <p:graphicFrame>
        <p:nvGraphicFramePr>
          <p:cNvPr id="304" name="table 304"/>
          <p:cNvGraphicFramePr>
            <a:graphicFrameLocks noGrp="1"/>
          </p:cNvGraphicFramePr>
          <p:nvPr/>
        </p:nvGraphicFramePr>
        <p:xfrm>
          <a:off x="3921125" y="3737006"/>
          <a:ext cx="4559300" cy="10112376"/>
        </p:xfrm>
        <a:graphic>
          <a:graphicData uri="http://schemas.openxmlformats.org/drawingml/2006/table">
            <a:tbl>
              <a:tblPr/>
              <a:tblGrid>
                <a:gridCol w="4559300"/>
              </a:tblGrid>
              <a:tr h="2301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2026年全国大学生英语竞赛遵义医科大</a:t>
                      </a:r>
                      <a:r>
                        <a:rPr sz="1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学分赛区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8000"/>
                        </a:lnSpc>
                        <a:spcBef>
                          <a:spcPts val="395"/>
                        </a:spcBef>
                        <a:tabLst/>
                      </a:pPr>
                      <a:r>
                        <a:rPr sz="1300" kern="0" spc="90" dirty="0">
                          <a:solidFill>
                            <a:srgbClr val="404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真实姓名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8000"/>
                        </a:lnSpc>
                        <a:spcBef>
                          <a:spcPts val="398"/>
                        </a:spcBef>
                        <a:tabLst/>
                      </a:pPr>
                      <a:r>
                        <a:rPr sz="1300" kern="0" spc="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使用真实姓名录入全国考试系统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300" kern="0" spc="100" dirty="0">
                          <a:solidFill>
                            <a:srgbClr val="5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性别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842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b="1" kern="0" spc="-70" dirty="0">
                          <a:solidFill>
                            <a:srgbClr val="10C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</a:t>
                      </a:r>
                      <a:r>
                        <a:rPr sz="1300" kern="0" spc="-150" dirty="0">
                          <a:solidFill>
                            <a:srgbClr val="10C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男</a:t>
                      </a:r>
                      <a:r>
                        <a:rPr sz="13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300" b="1" kern="0" spc="-70" dirty="0">
                          <a:solidFill>
                            <a:srgbClr val="20A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◎</a:t>
                      </a:r>
                      <a:r>
                        <a:rPr sz="13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女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89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所在学校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89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所在学院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89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50" dirty="0">
                          <a:solidFill>
                            <a:srgbClr val="C0B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请填写所在学院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专业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学号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89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级班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8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300" kern="0" spc="-80" dirty="0">
                          <a:solidFill>
                            <a:srgbClr val="A0A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例</a:t>
                      </a:r>
                      <a:r>
                        <a:rPr sz="1300" kern="0" spc="460" dirty="0">
                          <a:solidFill>
                            <a:srgbClr val="A0A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kern="0" spc="-80" dirty="0">
                          <a:solidFill>
                            <a:srgbClr val="A0A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r>
                        <a:rPr sz="1300" kern="0" spc="-80" dirty="0">
                          <a:solidFill>
                            <a:srgbClr val="B0B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2025级1班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89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手机号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邮箱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身份证号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77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8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300" kern="0" spc="50" dirty="0">
                          <a:solidFill>
                            <a:srgbClr val="B0A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报名学生身份证号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06" name="table 306"/>
          <p:cNvGraphicFramePr>
            <a:graphicFrameLocks noGrp="1"/>
          </p:cNvGraphicFramePr>
          <p:nvPr/>
        </p:nvGraphicFramePr>
        <p:xfrm>
          <a:off x="476250" y="1303115"/>
          <a:ext cx="14648814" cy="1749425"/>
        </p:xfrm>
        <a:graphic>
          <a:graphicData uri="http://schemas.openxmlformats.org/drawingml/2006/table">
            <a:tbl>
              <a:tblPr/>
              <a:tblGrid>
                <a:gridCol w="3418840"/>
                <a:gridCol w="11229975"/>
              </a:tblGrid>
              <a:tr h="174942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769"/>
                        </a:lnSpc>
                        <a:tabLst/>
                      </a:pPr>
                      <a:r>
                        <a:rPr sz="57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Step.</a:t>
                      </a:r>
                      <a:r>
                        <a:rPr sz="57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  <a:endParaRPr sz="5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ts val="5457"/>
                        </a:lnSpc>
                        <a:tabLst/>
                      </a:pPr>
                      <a:r>
                        <a:rPr sz="3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APP</a:t>
                      </a:r>
                      <a:r>
                        <a:rPr sz="3500" kern="0" spc="-3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端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0492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500" kern="0" spc="1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在线报名流程指引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923925" algn="l" rtl="0" eaLnBrk="0">
                        <a:lnSpc>
                          <a:spcPct val="95000"/>
                        </a:lnSpc>
                        <a:spcBef>
                          <a:spcPts val="1006"/>
                        </a:spcBef>
                        <a:tabLst/>
                      </a:pPr>
                      <a:r>
                        <a:rPr sz="3400" kern="0" spc="-10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(1)</a:t>
                      </a:r>
                      <a:r>
                        <a:rPr sz="3400" kern="0" spc="90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400" kern="0" spc="-10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参赛者如实填写个人信息；</a:t>
                      </a:r>
                      <a:endParaRPr sz="34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923925" algn="l" rtl="0" eaLnBrk="0">
                        <a:lnSpc>
                          <a:spcPct val="84000"/>
                        </a:lnSpc>
                        <a:spcBef>
                          <a:spcPts val="1006"/>
                        </a:spcBef>
                        <a:tabLst/>
                      </a:pPr>
                      <a:r>
                        <a:rPr sz="3400" kern="0" spc="-22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(2)</a:t>
                      </a:r>
                      <a:r>
                        <a:rPr sz="3400" kern="0" spc="65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400" kern="0" spc="-22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填写完后，点击“下一步”</a:t>
                      </a:r>
                      <a:r>
                        <a:rPr sz="3400" kern="0" spc="-230" dirty="0">
                          <a:solidFill>
                            <a:srgbClr val="2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按钮，跳转到缴费页面。</a:t>
                      </a:r>
                      <a:endParaRPr sz="3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308" name="picture 3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453100" y="3556015"/>
            <a:ext cx="2660650" cy="3790902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758150" y="546068"/>
            <a:ext cx="965200" cy="977978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21786850" y="671323"/>
            <a:ext cx="112077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4600" b="1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</a:t>
            </a:r>
            <a:r>
              <a:rPr sz="46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氪</a:t>
            </a:r>
            <a:endParaRPr sz="4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74000"/>
              </a:lnSpc>
              <a:spcBef>
                <a:spcPts val="10"/>
              </a:spcBef>
              <a:tabLst/>
            </a:pPr>
            <a:r>
              <a:rPr sz="16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Soikr.com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3867150" y="5325662"/>
            <a:ext cx="6096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06"/>
              </a:lnSpc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*</a:t>
            </a:r>
            <a:endParaRPr sz="600" dirty="0">
              <a:latin typeface="SimSun"/>
              <a:ea typeface="SimSun"/>
              <a:cs typeface="SimSun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10544175" y="6841539"/>
            <a:ext cx="97789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5"/>
              </a:lnSpc>
              <a:tabLst/>
            </a:pP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</a:t>
            </a:r>
            <a:endParaRPr sz="3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 318"/>
          <p:cNvSpPr/>
          <p:nvPr/>
        </p:nvSpPr>
        <p:spPr>
          <a:xfrm>
            <a:off x="0" y="0"/>
            <a:ext cx="25393650" cy="14287500"/>
          </a:xfrm>
          <a:prstGeom prst="rect">
            <a:avLst/>
          </a:prstGeom>
          <a:solidFill>
            <a:srgbClr val="EEEEE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10922000" y="4800600"/>
            <a:ext cx="5835650" cy="9429750"/>
            <a:chOff x="0" y="0"/>
            <a:chExt cx="5835650" cy="9429750"/>
          </a:xfrm>
        </p:grpSpPr>
        <p:pic>
          <p:nvPicPr>
            <p:cNvPr id="320" name="picture 3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835650" cy="9429750"/>
            </a:xfrm>
            <a:prstGeom prst="rect">
              <a:avLst/>
            </a:prstGeom>
          </p:spPr>
        </p:pic>
        <p:sp>
          <p:nvSpPr>
            <p:cNvPr id="322" name="textbox 322"/>
            <p:cNvSpPr/>
            <p:nvPr/>
          </p:nvSpPr>
          <p:spPr>
            <a:xfrm>
              <a:off x="-12700" y="-12700"/>
              <a:ext cx="5861050" cy="947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9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06755" algn="l" rtl="0" eaLnBrk="0">
                <a:lnSpc>
                  <a:spcPts val="1327"/>
                </a:lnSpc>
                <a:tabLst/>
              </a:pPr>
              <a:r>
                <a:rPr sz="1100" b="1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2026年全国大学生英语竞赛</a:t>
              </a:r>
              <a:r>
                <a:rPr sz="11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</a:t>
              </a: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■</a:t>
              </a:r>
              <a:r>
                <a:rPr sz="1000" kern="0" spc="1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分</a:t>
              </a: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赛</a:t>
              </a: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区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9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8600" algn="l" rtl="0" eaLnBrk="0">
                <a:lnSpc>
                  <a:spcPct val="97000"/>
                </a:lnSpc>
                <a:spcBef>
                  <a:spcPts val="362"/>
                </a:spcBef>
                <a:tabLst/>
              </a:pPr>
              <a:r>
                <a:rPr sz="1200" kern="0" spc="-60" dirty="0">
                  <a:solidFill>
                    <a:srgbClr val="10E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|</a:t>
              </a:r>
              <a:r>
                <a:rPr sz="1200" kern="0" spc="-300" dirty="0">
                  <a:solidFill>
                    <a:srgbClr val="10E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当前状态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227965" algn="l" rtl="0" eaLnBrk="0">
                <a:lnSpc>
                  <a:spcPts val="1411"/>
                </a:lnSpc>
                <a:spcBef>
                  <a:spcPts val="1037"/>
                </a:spcBef>
                <a:tabLst/>
              </a:pPr>
              <a:r>
                <a:rPr sz="1100" kern="0" spc="1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报名状态：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已报名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                  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修改信息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032000" algn="l" rtl="0" eaLnBrk="0">
                <a:lnSpc>
                  <a:spcPct val="92000"/>
                </a:lnSpc>
                <a:spcBef>
                  <a:spcPts val="304"/>
                </a:spcBef>
                <a:tabLst/>
              </a:pPr>
              <a:r>
                <a:rPr sz="1000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开始，请准时参加!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8600" algn="l" rtl="0" eaLnBrk="0">
                <a:lnSpc>
                  <a:spcPct val="100000"/>
                </a:lnSpc>
                <a:spcBef>
                  <a:spcPts val="370"/>
                </a:spcBef>
                <a:tabLst/>
              </a:pPr>
              <a:r>
                <a:rPr sz="1200" kern="0" spc="-10" dirty="0">
                  <a:solidFill>
                    <a:srgbClr val="10E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1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个人信息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ct val="99000"/>
                </a:lnSpc>
                <a:spcBef>
                  <a:spcPts val="1089"/>
                </a:spcBef>
                <a:tabLst/>
              </a:pPr>
              <a:r>
                <a:rPr sz="1100" kern="0" spc="10" dirty="0">
                  <a:solidFill>
                    <a:srgbClr val="A0A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准考证号：尚未生成(报名时间截止后统一生成)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227965" algn="l" rtl="0" eaLnBrk="0">
                <a:lnSpc>
                  <a:spcPct val="99000"/>
                </a:lnSpc>
                <a:spcBef>
                  <a:spcPts val="1052"/>
                </a:spcBef>
                <a:tabLst/>
              </a:pPr>
              <a:r>
                <a:rPr sz="1100" kern="0" spc="-100" dirty="0">
                  <a:solidFill>
                    <a:srgbClr val="A0A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报名编号：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ct val="100000"/>
                </a:lnSpc>
                <a:spcBef>
                  <a:spcPts val="1439"/>
                </a:spcBef>
                <a:tabLst/>
              </a:pPr>
              <a:r>
                <a:rPr sz="1100" kern="0" spc="-3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真实姓名：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ts val="1167"/>
                </a:lnSpc>
                <a:spcBef>
                  <a:spcPts val="836"/>
                </a:spcBef>
                <a:tabLst/>
              </a:pPr>
              <a:r>
                <a:rPr sz="900" kern="0" spc="-50" dirty="0">
                  <a:solidFill>
                    <a:srgbClr val="8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性别：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ct val="99000"/>
                </a:lnSpc>
                <a:spcBef>
                  <a:spcPts val="1332"/>
                </a:spcBef>
                <a:tabLst/>
              </a:pPr>
              <a:r>
                <a:rPr sz="1100" kern="0" spc="-70" dirty="0">
                  <a:solidFill>
                    <a:srgbClr val="A0A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所在学校：■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ts val="1297"/>
                </a:lnSpc>
                <a:spcBef>
                  <a:spcPts val="1039"/>
                </a:spcBef>
                <a:tabLst/>
              </a:pPr>
              <a:r>
                <a:rPr sz="1000" kern="0" spc="-4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所在学院：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ts val="1328"/>
                </a:lnSpc>
                <a:spcBef>
                  <a:spcPts val="1119"/>
                </a:spcBef>
                <a:tabLst/>
              </a:pPr>
              <a:r>
                <a:rPr sz="1100" kern="0" spc="-4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专业：■■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8600" algn="l" rtl="0" eaLnBrk="0">
                <a:lnSpc>
                  <a:spcPct val="99000"/>
                </a:lnSpc>
                <a:spcBef>
                  <a:spcPts val="341"/>
                </a:spcBef>
                <a:tabLst/>
              </a:pPr>
              <a:r>
                <a:rPr sz="1100" kern="0" spc="1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级班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ts val="1309"/>
                </a:lnSpc>
                <a:spcBef>
                  <a:spcPts val="1101"/>
                </a:spcBef>
                <a:tabLst/>
              </a:pPr>
              <a:r>
                <a:rPr sz="1000" kern="0" spc="-30" dirty="0">
                  <a:solidFill>
                    <a:srgbClr val="A0A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手机号：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marL="228600" algn="l" rtl="0" eaLnBrk="0">
                <a:lnSpc>
                  <a:spcPts val="1301"/>
                </a:lnSpc>
                <a:spcBef>
                  <a:spcPts val="1233"/>
                </a:spcBef>
                <a:tabLst/>
              </a:pPr>
              <a:r>
                <a:rPr sz="1000" kern="0" spc="-8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邮箱</a:t>
              </a:r>
              <a:r>
                <a:rPr sz="1000" kern="0" spc="8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</a:t>
              </a:r>
              <a:r>
                <a:rPr sz="1000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■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04800" algn="l" rtl="0" eaLnBrk="0">
                <a:lnSpc>
                  <a:spcPct val="99000"/>
                </a:lnSpc>
                <a:spcBef>
                  <a:spcPts val="365"/>
                </a:spcBef>
                <a:tabLst/>
              </a:pPr>
              <a:r>
                <a:rPr sz="1200" kern="0" spc="30" dirty="0">
                  <a:solidFill>
                    <a:srgbClr val="505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文档下载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28600" algn="l" rtl="0" eaLnBrk="0">
                <a:lnSpc>
                  <a:spcPct val="100000"/>
                </a:lnSpc>
                <a:spcBef>
                  <a:spcPts val="3"/>
                </a:spcBef>
                <a:tabLst/>
              </a:pPr>
              <a:r>
                <a:rPr sz="1100" kern="0" spc="10" dirty="0">
                  <a:solidFill>
                    <a:srgbClr val="A0A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准考证：</a:t>
              </a:r>
              <a:r>
                <a:rPr sz="1100" kern="0" spc="10" dirty="0">
                  <a:solidFill>
                    <a:srgbClr val="9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尚未公布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24" name="picture 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5670550" cy="5657850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4730749" y="1275078"/>
            <a:ext cx="14512925" cy="3432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kern="0" spc="-29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1.下载准考证功能说明：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5000"/>
              </a:lnSpc>
              <a:spcBef>
                <a:spcPts val="697"/>
              </a:spcBef>
              <a:tabLst/>
            </a:pPr>
            <a:r>
              <a:rPr sz="3300" kern="0" spc="-2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学校负责老师会在竞赛报名结束之后，于后台配置各参赛者</a:t>
            </a:r>
            <a:r>
              <a:rPr sz="3300" kern="0" spc="-3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的考场，并公布准</a:t>
            </a:r>
            <a:endParaRPr sz="3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23000"/>
              </a:lnSpc>
              <a:spcBef>
                <a:spcPts val="27"/>
              </a:spcBef>
              <a:tabLst/>
            </a:pPr>
            <a:r>
              <a:rPr sz="3300" kern="0" spc="-4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考证；待学校负责老师发布准考证后，参赛者可于个人主页自己参加的竞赛中，</a:t>
            </a:r>
            <a:r>
              <a:rPr sz="3300" kern="0" spc="5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300" kern="0" spc="-11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点击“报名管理”按钮，进入报名信息页</a:t>
            </a:r>
            <a:r>
              <a:rPr sz="3300" kern="0" spc="-12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面，如下图所示，直接下载准考证。</a:t>
            </a:r>
            <a:endParaRPr sz="3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7000"/>
              </a:lnSpc>
              <a:spcBef>
                <a:spcPts val="562"/>
              </a:spcBef>
              <a:tabLst/>
            </a:pPr>
            <a:r>
              <a:rPr sz="3400" kern="0" spc="-250" dirty="0">
                <a:solidFill>
                  <a:srgbClr val="107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3400" kern="0" spc="-25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修改信息功能说明：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864"/>
              </a:spcBef>
              <a:tabLst/>
            </a:pPr>
            <a:r>
              <a:rPr sz="3200" kern="0" spc="80" dirty="0">
                <a:solidFill>
                  <a:srgbClr val="107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报名后，可点击修改信息去更改信息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774150" y="6616684"/>
            <a:ext cx="3625850" cy="7658100"/>
          </a:xfrm>
          <a:prstGeom prst="rect">
            <a:avLst/>
          </a:prstGeom>
        </p:spPr>
      </p:pic>
      <p:pic>
        <p:nvPicPr>
          <p:cNvPr id="330" name="picture 3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027900" y="311179"/>
            <a:ext cx="901700" cy="901684"/>
          </a:xfrm>
          <a:prstGeom prst="rect">
            <a:avLst/>
          </a:prstGeom>
        </p:spPr>
      </p:pic>
      <p:sp>
        <p:nvSpPr>
          <p:cNvPr id="332" name="textbox 332"/>
          <p:cNvSpPr/>
          <p:nvPr/>
        </p:nvSpPr>
        <p:spPr>
          <a:xfrm>
            <a:off x="20981313" y="422202"/>
            <a:ext cx="1080769" cy="723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4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40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4000" dirty="0">
              <a:latin typeface="SimHei"/>
              <a:ea typeface="SimHei"/>
              <a:cs typeface="SimHei"/>
            </a:endParaRPr>
          </a:p>
          <a:p>
            <a:pPr marL="30480" algn="l" rtl="0" eaLnBrk="0">
              <a:lnSpc>
                <a:spcPct val="82000"/>
              </a:lnSpc>
              <a:spcBef>
                <a:spcPts val="12"/>
              </a:spcBef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saikr.com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picture 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414500" y="3498867"/>
            <a:ext cx="8445500" cy="6699265"/>
          </a:xfrm>
          <a:prstGeom prst="rect">
            <a:avLst/>
          </a:prstGeom>
        </p:spPr>
      </p:pic>
      <p:graphicFrame>
        <p:nvGraphicFramePr>
          <p:cNvPr id="336" name="table 336"/>
          <p:cNvGraphicFramePr>
            <a:graphicFrameLocks noGrp="1"/>
          </p:cNvGraphicFramePr>
          <p:nvPr/>
        </p:nvGraphicFramePr>
        <p:xfrm>
          <a:off x="2292349" y="5568981"/>
          <a:ext cx="7139940" cy="6217284"/>
        </p:xfrm>
        <a:graphic>
          <a:graphicData uri="http://schemas.openxmlformats.org/drawingml/2006/table">
            <a:tbl>
              <a:tblPr/>
              <a:tblGrid>
                <a:gridCol w="3569969"/>
                <a:gridCol w="3569970"/>
              </a:tblGrid>
              <a:tr h="62172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4000" kern="0" spc="20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有任何问题可</a:t>
                      </a:r>
                      <a:endParaRPr sz="40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spcBef>
                          <a:spcPts val="73"/>
                        </a:spcBef>
                        <a:tabLst/>
                      </a:pPr>
                      <a:r>
                        <a:rPr sz="4000" kern="0" spc="19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扫描二维码进</a:t>
                      </a:r>
                      <a:r>
                        <a:rPr sz="4000" kern="0" spc="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4000" kern="0" spc="1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行咨询</a:t>
                      </a:r>
                      <a:endParaRPr sz="40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7029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700" kern="0" spc="46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关注赛氪公众</a:t>
                      </a:r>
                      <a:endParaRPr sz="3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66395" algn="just" rtl="0" eaLnBrk="0">
                        <a:lnSpc>
                          <a:spcPct val="120000"/>
                        </a:lnSpc>
                        <a:spcBef>
                          <a:spcPts val="26"/>
                        </a:spcBef>
                        <a:tabLst/>
                      </a:pPr>
                      <a:r>
                        <a:rPr sz="3800" kern="0" spc="36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号，回复【大</a:t>
                      </a:r>
                      <a:r>
                        <a:rPr sz="3800" kern="0" spc="4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3700" kern="0" spc="50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英赛】获取历</a:t>
                      </a:r>
                      <a:r>
                        <a:rPr sz="3700" kern="0" spc="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4000" kern="0" spc="10" dirty="0">
                          <a:solidFill>
                            <a:srgbClr val="106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年真题资料</a:t>
                      </a:r>
                      <a:endParaRPr sz="40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38" name="textbox 338"/>
          <p:cNvSpPr/>
          <p:nvPr/>
        </p:nvSpPr>
        <p:spPr>
          <a:xfrm>
            <a:off x="10198099" y="8418239"/>
            <a:ext cx="3537584" cy="3445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300" algn="l" rtl="0" eaLnBrk="0">
              <a:lnSpc>
                <a:spcPct val="96000"/>
              </a:lnSpc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扫码关注微信视频号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1113"/>
              </a:spcBef>
              <a:tabLst/>
            </a:pPr>
            <a:r>
              <a:rPr sz="3700" kern="0" spc="450" dirty="0">
                <a:solidFill>
                  <a:srgbClr val="1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关注赛氪视频</a:t>
            </a:r>
            <a:endParaRPr sz="3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9000"/>
              </a:lnSpc>
              <a:spcBef>
                <a:spcPts val="142"/>
              </a:spcBef>
              <a:tabLst/>
            </a:pPr>
            <a:r>
              <a:rPr sz="3900" kern="0" spc="250" dirty="0">
                <a:solidFill>
                  <a:srgbClr val="1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号，移步观看</a:t>
            </a:r>
            <a:r>
              <a:rPr sz="3900" kern="0" spc="20" dirty="0">
                <a:solidFill>
                  <a:srgbClr val="1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4000" kern="0" spc="-40" dirty="0">
                <a:solidFill>
                  <a:srgbClr val="1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详细报名流程，</a:t>
            </a:r>
            <a:r>
              <a:rPr sz="4000" kern="0" spc="10" dirty="0">
                <a:solidFill>
                  <a:srgbClr val="1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0" kern="0" spc="0" dirty="0">
                <a:solidFill>
                  <a:srgbClr val="1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最新通知</a:t>
            </a:r>
            <a:endParaRPr sz="4000" dirty="0">
              <a:latin typeface="SimHei"/>
              <a:ea typeface="SimHei"/>
              <a:cs typeface="SimHei"/>
            </a:endParaRPr>
          </a:p>
        </p:txBody>
      </p:sp>
      <p:pic>
        <p:nvPicPr>
          <p:cNvPr id="340" name="picture 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18250" y="5613415"/>
            <a:ext cx="2933700" cy="2927366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62200" y="5568981"/>
            <a:ext cx="2914650" cy="2895504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21950" y="5626132"/>
            <a:ext cx="2749550" cy="2743199"/>
          </a:xfrm>
          <a:prstGeom prst="rect">
            <a:avLst/>
          </a:prstGeom>
        </p:spPr>
      </p:pic>
      <p:sp>
        <p:nvSpPr>
          <p:cNvPr id="346" name="textbox 346"/>
          <p:cNvSpPr/>
          <p:nvPr/>
        </p:nvSpPr>
        <p:spPr>
          <a:xfrm>
            <a:off x="2108200" y="3182531"/>
            <a:ext cx="6921500" cy="948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6300" kern="0" spc="480" dirty="0">
                <a:solidFill>
                  <a:srgbClr val="1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赛氪相关联系方式</a:t>
            </a:r>
            <a:endParaRPr sz="6300" dirty="0">
              <a:latin typeface="SimHei"/>
              <a:ea typeface="SimHei"/>
              <a:cs typeface="SimHei"/>
            </a:endParaRPr>
          </a:p>
        </p:txBody>
      </p:sp>
      <p:pic>
        <p:nvPicPr>
          <p:cNvPr id="348" name="picture 3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63750" y="571501"/>
            <a:ext cx="889000" cy="876251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2997200" y="702501"/>
            <a:ext cx="1017905" cy="631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767"/>
              </a:lnSpc>
              <a:tabLst/>
            </a:pPr>
            <a:r>
              <a:rPr sz="2500" kern="0" spc="1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</a:t>
            </a:r>
            <a:r>
              <a:rPr sz="900" b="1" kern="0" spc="-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Soikr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85178" y="715201"/>
            <a:ext cx="482091" cy="6053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 354"/>
          <p:cNvSpPr/>
          <p:nvPr/>
        </p:nvSpPr>
        <p:spPr>
          <a:xfrm>
            <a:off x="0" y="0"/>
            <a:ext cx="25393650" cy="14287500"/>
          </a:xfrm>
          <a:prstGeom prst="rect">
            <a:avLst/>
          </a:prstGeom>
          <a:solidFill>
            <a:srgbClr val="F5F6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25431"/>
            <a:ext cx="4883150" cy="12604718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659850" y="2495598"/>
            <a:ext cx="3740150" cy="11728465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429750" y="5530834"/>
            <a:ext cx="2425700" cy="2419301"/>
          </a:xfrm>
          <a:prstGeom prst="rect">
            <a:avLst/>
          </a:prstGeom>
        </p:spPr>
      </p:pic>
      <p:sp>
        <p:nvSpPr>
          <p:cNvPr id="362" name="textbox 362"/>
          <p:cNvSpPr/>
          <p:nvPr/>
        </p:nvSpPr>
        <p:spPr>
          <a:xfrm>
            <a:off x="12103754" y="5804299"/>
            <a:ext cx="2905760" cy="199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800" b="1" kern="0" spc="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赛氪</a:t>
            </a:r>
            <a:endParaRPr sz="10800" dirty="0">
              <a:latin typeface="SimHei"/>
              <a:ea typeface="SimHei"/>
              <a:cs typeface="SimHei"/>
            </a:endParaRPr>
          </a:p>
          <a:p>
            <a:pPr marL="43180" algn="l" rtl="0" eaLnBrk="0">
              <a:lnSpc>
                <a:spcPct val="81000"/>
              </a:lnSpc>
              <a:spcBef>
                <a:spcPts val="9"/>
              </a:spcBef>
              <a:tabLst/>
            </a:pPr>
            <a:r>
              <a:rPr sz="4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4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oikr</a:t>
            </a:r>
            <a:r>
              <a:rPr sz="4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4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</a:t>
            </a:r>
            <a:endParaRPr sz="4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2026-07-18T21:12:47Z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2026-07-18T21:13:22</vt:filetime>
  </property>
  <property fmtid="{D5CDD505-2E9C-101B-9397-08002B2CF9AE}" pid="4" name="UsrData">
    <vt:lpwstr>6a5b7bc450fe4f0001295c10wl</vt:lpwstr>
  </property>
</Properties>
</file>