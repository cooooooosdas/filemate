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66" r:id="rId3"/>
    <p:sldId id="267" r:id="rId4"/>
    <p:sldId id="268" r:id="rId5"/>
    <p:sldId id="269" r:id="rId6"/>
    <p:sldId id="270" r:id="rId7"/>
    <p:sldId id="271" r:id="rId8"/>
    <p:sldId id="258" r:id="rId9"/>
    <p:sldId id="257" r:id="rId10"/>
    <p:sldId id="264" r:id="rId11"/>
    <p:sldId id="294" r:id="rId12"/>
    <p:sldId id="295" r:id="rId13"/>
    <p:sldId id="293" r:id="rId14"/>
    <p:sldId id="291" r:id="rId15"/>
    <p:sldId id="292" r:id="rId16"/>
    <p:sldId id="272" r:id="rId17"/>
    <p:sldId id="265" r:id="rId18"/>
    <p:sldId id="277" r:id="rId19"/>
    <p:sldId id="276" r:id="rId20"/>
    <p:sldId id="279" r:id="rId2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0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08" y="1518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467995" y="1772955"/>
            <a:ext cx="8229600" cy="409046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5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项目名称</a:t>
            </a:r>
            <a:endParaRPr lang="en-US" altLang="zh-CN" dirty="0"/>
          </a:p>
          <a:p>
            <a:pPr algn="l"/>
            <a:endParaRPr lang="en-US" altLang="zh-CN" sz="2800" dirty="0"/>
          </a:p>
          <a:p>
            <a:pPr algn="l"/>
            <a:r>
              <a:rPr lang="zh-CN" altLang="en-US" sz="2800" dirty="0"/>
              <a:t>              参赛赛道：</a:t>
            </a:r>
            <a:endParaRPr lang="en-US" altLang="zh-CN" sz="2800" dirty="0"/>
          </a:p>
          <a:p>
            <a:pPr algn="l"/>
            <a:r>
              <a:rPr lang="zh-CN" altLang="en-US" sz="2800" dirty="0"/>
              <a:t>              参赛组别：</a:t>
            </a:r>
            <a:endParaRPr lang="en-US" altLang="zh-CN" sz="2800" dirty="0"/>
          </a:p>
          <a:p>
            <a:pPr algn="l"/>
            <a:r>
              <a:rPr lang="zh-CN" altLang="en-US" sz="2800" dirty="0"/>
              <a:t>              参赛成员：</a:t>
            </a:r>
            <a:endParaRPr lang="en-US" altLang="zh-CN" sz="2800" dirty="0"/>
          </a:p>
          <a:p>
            <a:pPr algn="l"/>
            <a:r>
              <a:rPr lang="zh-CN" altLang="en-US" sz="2800" dirty="0"/>
              <a:t>              指导教师：</a:t>
            </a:r>
            <a:endParaRPr lang="en-US" altLang="zh-CN" sz="2800" dirty="0"/>
          </a:p>
          <a:p>
            <a:pPr lvl="0" algn="just">
              <a:spcBef>
                <a:spcPct val="20000"/>
              </a:spcBef>
            </a:pP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lvl="0" algn="just">
              <a:spcBef>
                <a:spcPct val="2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本模板仅提供内容提示，请按照自查表，整理已有材料，并充分利用赛前时间积极准备缺项的材料。</a:t>
            </a:r>
          </a:p>
          <a:p>
            <a:pPr lvl="0" algn="just">
              <a:spcBef>
                <a:spcPct val="20000"/>
              </a:spcBef>
            </a:pPr>
            <a:r>
              <a:rPr lang="en-US" altLang="zh-CN" sz="24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ppt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需要认真排版，不可只补充材料，不排版，每页除标题外的提示词请在编辑时注意删除。</a:t>
            </a:r>
          </a:p>
          <a:p>
            <a:pPr algn="l"/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EE3B39-95F6-7C91-DAFA-E3CFA94D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60648"/>
            <a:ext cx="3528392" cy="1143000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项目概述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DC529C-E862-F177-B765-8B8196C275AA}"/>
              </a:ext>
            </a:extLst>
          </p:cNvPr>
          <p:cNvSpPr txBox="1"/>
          <p:nvPr/>
        </p:nvSpPr>
        <p:spPr>
          <a:xfrm>
            <a:off x="971600" y="1484784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产品技术及壁垒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项目进展与应用成效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395536" y="1268770"/>
            <a:ext cx="8229600" cy="1143000"/>
          </a:xfrm>
        </p:spPr>
        <p:txBody>
          <a:bodyPr anchor="ctr" anchorCtr="0"/>
          <a:lstStyle/>
          <a:p>
            <a:pPr algn="l"/>
            <a:r>
              <a:rPr lang="en-US" altLang="zh-CN" dirty="0"/>
              <a:t>2.</a:t>
            </a:r>
            <a:r>
              <a:rPr lang="zh-CN" altLang="en-US" dirty="0"/>
              <a:t>项目起源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/>
          <p:cNvSpPr>
            <a:spLocks noGrp="1"/>
          </p:cNvSpPr>
          <p:nvPr>
            <p:ph type="title"/>
          </p:nvPr>
        </p:nvSpPr>
        <p:spPr>
          <a:xfrm>
            <a:off x="395605" y="1052513"/>
            <a:ext cx="8229600" cy="1570186"/>
          </a:xfrm>
        </p:spPr>
        <p:txBody>
          <a:bodyPr anchor="ctr" anchorCtr="0"/>
          <a:lstStyle/>
          <a:p>
            <a:pPr algn="l"/>
            <a:r>
              <a:rPr lang="en-US" dirty="0"/>
              <a:t>3.</a:t>
            </a:r>
            <a:r>
              <a:rPr lang="zh-CN" altLang="en-US" dirty="0"/>
              <a:t>项目背景</a:t>
            </a:r>
            <a:br>
              <a:rPr lang="en-US" altLang="zh-CN" dirty="0"/>
            </a:br>
            <a:r>
              <a:rPr lang="zh-CN" altLang="en-US" dirty="0"/>
              <a:t>（政策背景与必要性）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/>
          <p:cNvSpPr>
            <a:spLocks noGrp="1"/>
          </p:cNvSpPr>
          <p:nvPr>
            <p:ph type="title"/>
          </p:nvPr>
        </p:nvSpPr>
        <p:spPr>
          <a:xfrm>
            <a:off x="395605" y="548323"/>
            <a:ext cx="8229600" cy="2362274"/>
          </a:xfrm>
        </p:spPr>
        <p:txBody>
          <a:bodyPr anchor="ctr" anchorCtr="0"/>
          <a:lstStyle/>
          <a:p>
            <a:pPr algn="l"/>
            <a:r>
              <a:rPr lang="en-US" dirty="0"/>
              <a:t>4.</a:t>
            </a:r>
            <a:r>
              <a:rPr lang="zh-CN" altLang="en-US" dirty="0"/>
              <a:t>实践过程</a:t>
            </a:r>
            <a:br>
              <a:rPr lang="en-US" altLang="zh-CN" dirty="0"/>
            </a:br>
            <a:r>
              <a:rPr lang="zh-CN" altLang="en-US" sz="3200" dirty="0"/>
              <a:t>调研经过</a:t>
            </a:r>
            <a:br>
              <a:rPr lang="en-US" altLang="zh-CN" sz="3200" dirty="0"/>
            </a:br>
            <a:r>
              <a:rPr lang="zh-CN" altLang="en-US" sz="3200" dirty="0"/>
              <a:t>寻找痛点</a:t>
            </a:r>
            <a:br>
              <a:rPr lang="en-US" altLang="zh-CN" sz="3200" dirty="0"/>
            </a:br>
            <a:r>
              <a:rPr lang="zh-CN" altLang="en-US" sz="3200" dirty="0"/>
              <a:t>研发历程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/>
          <p:cNvSpPr>
            <a:spLocks noGrp="1"/>
          </p:cNvSpPr>
          <p:nvPr>
            <p:ph type="title"/>
          </p:nvPr>
        </p:nvSpPr>
        <p:spPr>
          <a:xfrm>
            <a:off x="457200" y="620078"/>
            <a:ext cx="8229600" cy="1143000"/>
          </a:xfrm>
        </p:spPr>
        <p:txBody>
          <a:bodyPr anchor="ctr" anchorCtr="0"/>
          <a:lstStyle/>
          <a:p>
            <a:pPr algn="l"/>
            <a:r>
              <a:rPr lang="en-US" dirty="0"/>
              <a:t>5.</a:t>
            </a:r>
            <a:r>
              <a:rPr lang="zh-CN" altLang="en-US" dirty="0"/>
              <a:t>解决方案</a:t>
            </a:r>
            <a:r>
              <a:rPr lang="en-US" altLang="zh-CN" dirty="0"/>
              <a:t>/</a:t>
            </a:r>
            <a:r>
              <a:rPr lang="zh-CN" altLang="en-US" dirty="0"/>
              <a:t>公益模式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/>
          </p:cNvSpPr>
          <p:nvPr>
            <p:ph type="title"/>
          </p:nvPr>
        </p:nvSpPr>
        <p:spPr>
          <a:xfrm>
            <a:off x="539750" y="764223"/>
            <a:ext cx="8229600" cy="1426170"/>
          </a:xfrm>
        </p:spPr>
        <p:txBody>
          <a:bodyPr anchor="ctr" anchorCtr="0"/>
          <a:lstStyle/>
          <a:p>
            <a:pPr algn="l"/>
            <a:r>
              <a:rPr lang="en-US" dirty="0"/>
              <a:t>6.</a:t>
            </a:r>
            <a:r>
              <a:rPr lang="zh-CN" altLang="en-US" dirty="0"/>
              <a:t>核心技术（至少</a:t>
            </a:r>
            <a:r>
              <a:rPr lang="en-US" altLang="zh-CN" dirty="0"/>
              <a:t>3</a:t>
            </a:r>
            <a:r>
              <a:rPr lang="zh-CN" altLang="en-US" dirty="0"/>
              <a:t>项）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8229600" cy="3456384"/>
          </a:xfrm>
        </p:spPr>
        <p:txBody>
          <a:bodyPr anchor="ctr" anchorCtr="0"/>
          <a:lstStyle/>
          <a:p>
            <a:pPr algn="l"/>
            <a:r>
              <a:rPr lang="en-US" dirty="0"/>
              <a:t>7.</a:t>
            </a:r>
            <a:r>
              <a:rPr lang="zh-CN" altLang="en-US" dirty="0"/>
              <a:t>产品测试</a:t>
            </a: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endParaRPr lang="zh-CN" alt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xfrm>
            <a:off x="395605" y="764223"/>
            <a:ext cx="8229600" cy="1930226"/>
          </a:xfrm>
        </p:spPr>
        <p:txBody>
          <a:bodyPr anchor="ctr" anchorCtr="0"/>
          <a:lstStyle/>
          <a:p>
            <a:pPr algn="l"/>
            <a:r>
              <a:rPr lang="en-US" dirty="0"/>
              <a:t>8.</a:t>
            </a:r>
            <a:r>
              <a:rPr lang="zh-CN" altLang="en-US" dirty="0"/>
              <a:t>竞品分析：</a:t>
            </a:r>
            <a:br>
              <a:rPr lang="en-US" altLang="zh-CN" dirty="0"/>
            </a:br>
            <a:r>
              <a:rPr lang="zh-CN" altLang="en-US" sz="3200" dirty="0"/>
              <a:t>对比市面同类产品（公益组可不放）</a:t>
            </a:r>
            <a:br>
              <a:rPr lang="en-US" altLang="zh-CN" sz="1600" dirty="0"/>
            </a:br>
            <a:br>
              <a:rPr lang="en-US" altLang="zh-CN" sz="1600" dirty="0"/>
            </a:br>
            <a:endParaRPr lang="zh-CN" alt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xfrm>
            <a:off x="395605" y="980123"/>
            <a:ext cx="8229600" cy="1143000"/>
          </a:xfrm>
        </p:spPr>
        <p:txBody>
          <a:bodyPr anchor="ctr" anchorCtr="0"/>
          <a:lstStyle/>
          <a:p>
            <a:pPr algn="l"/>
            <a:r>
              <a:rPr lang="en-US" dirty="0"/>
              <a:t>9.</a:t>
            </a:r>
            <a:r>
              <a:rPr lang="zh-CN" altLang="en-US" dirty="0"/>
              <a:t>商业模式</a:t>
            </a:r>
            <a:r>
              <a:rPr lang="en-US" altLang="zh-CN" dirty="0"/>
              <a:t>/</a:t>
            </a:r>
            <a:r>
              <a:rPr lang="zh-CN" altLang="en-US" dirty="0"/>
              <a:t>推广模式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467995" y="836613"/>
            <a:ext cx="8229600" cy="2146250"/>
          </a:xfrm>
        </p:spPr>
        <p:txBody>
          <a:bodyPr anchor="ctr" anchorCtr="0"/>
          <a:lstStyle/>
          <a:p>
            <a:pPr algn="l"/>
            <a:r>
              <a:rPr lang="en-US" dirty="0"/>
              <a:t>10.</a:t>
            </a:r>
            <a:r>
              <a:rPr lang="zh-CN" altLang="en-US" dirty="0"/>
              <a:t>公益案例或服务案例</a:t>
            </a:r>
            <a:br>
              <a:rPr lang="en-US" altLang="zh-CN" dirty="0"/>
            </a:br>
            <a:r>
              <a:rPr lang="zh-CN" altLang="en-US" sz="3200" dirty="0"/>
              <a:t>建议不少于</a:t>
            </a:r>
            <a:r>
              <a:rPr lang="en-US" altLang="zh-CN" sz="3200" dirty="0"/>
              <a:t>3</a:t>
            </a:r>
            <a:r>
              <a:rPr lang="zh-CN" altLang="en-US" sz="3200" dirty="0"/>
              <a:t>张，突出合同订单和现场照片</a:t>
            </a:r>
            <a:br>
              <a:rPr lang="en-US" altLang="zh-CN" sz="3200" dirty="0"/>
            </a:br>
            <a:br>
              <a:rPr lang="en-US" altLang="zh-CN" sz="1600" dirty="0"/>
            </a:br>
            <a:br>
              <a:rPr lang="en-US" altLang="zh-CN" sz="1600" dirty="0"/>
            </a:br>
            <a:endParaRPr lang="zh-CN" alt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980123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11.</a:t>
            </a:r>
            <a:r>
              <a:rPr lang="zh-CN" altLang="en-US" dirty="0"/>
              <a:t>项目公益实效与模式归纳</a:t>
            </a:r>
            <a:br>
              <a:rPr lang="en-US" altLang="zh-CN" dirty="0"/>
            </a:br>
            <a:r>
              <a:rPr lang="zh-CN" altLang="en-US" sz="3200" dirty="0"/>
              <a:t>从帮扶人数等进行总结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>
          <a:xfrm>
            <a:off x="395605" y="908368"/>
            <a:ext cx="8229600" cy="1143000"/>
          </a:xfrm>
        </p:spPr>
        <p:txBody>
          <a:bodyPr anchor="ctr" anchorCtr="0"/>
          <a:lstStyle/>
          <a:p>
            <a:pPr algn="l"/>
            <a:r>
              <a:rPr lang="en-US" altLang="zh-CN" dirty="0"/>
              <a:t>1</a:t>
            </a:r>
            <a:r>
              <a:rPr lang="en-US" dirty="0"/>
              <a:t>2.</a:t>
            </a:r>
            <a:r>
              <a:rPr lang="zh-CN" altLang="en-US" dirty="0"/>
              <a:t>政府、专家及第三方认可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/>
          <p:cNvSpPr>
            <a:spLocks noGrp="1"/>
          </p:cNvSpPr>
          <p:nvPr>
            <p:ph type="title"/>
          </p:nvPr>
        </p:nvSpPr>
        <p:spPr>
          <a:xfrm>
            <a:off x="457200" y="836613"/>
            <a:ext cx="8229600" cy="1143000"/>
          </a:xfrm>
        </p:spPr>
        <p:txBody>
          <a:bodyPr anchor="ctr" anchorCtr="0"/>
          <a:lstStyle/>
          <a:p>
            <a:pPr algn="l"/>
            <a:r>
              <a:rPr lang="en-US" dirty="0"/>
              <a:t>13.</a:t>
            </a:r>
            <a:r>
              <a:rPr lang="zh-CN" altLang="en-US" dirty="0"/>
              <a:t>媒体报道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395605" y="980123"/>
            <a:ext cx="8229600" cy="1426170"/>
          </a:xfrm>
        </p:spPr>
        <p:txBody>
          <a:bodyPr anchor="ctr" anchorCtr="0"/>
          <a:lstStyle/>
          <a:p>
            <a:pPr algn="l"/>
            <a:r>
              <a:rPr lang="en-US" dirty="0"/>
              <a:t>14.</a:t>
            </a:r>
            <a:r>
              <a:rPr lang="zh-CN" altLang="en-US" dirty="0"/>
              <a:t>核心团队、顾问团队</a:t>
            </a:r>
            <a:br>
              <a:rPr lang="en-US" altLang="zh-CN" dirty="0"/>
            </a:br>
            <a:r>
              <a:rPr lang="en-US" altLang="zh-CN" sz="3200" dirty="0"/>
              <a:t>2</a:t>
            </a:r>
            <a:r>
              <a:rPr lang="zh-CN" altLang="en-US" sz="3200" dirty="0"/>
              <a:t>张，院士或大教授领衔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title"/>
          </p:nvPr>
        </p:nvSpPr>
        <p:spPr>
          <a:xfrm>
            <a:off x="395605" y="1196658"/>
            <a:ext cx="8229600" cy="3154362"/>
          </a:xfrm>
        </p:spPr>
        <p:txBody>
          <a:bodyPr anchor="ctr" anchorCtr="0"/>
          <a:lstStyle/>
          <a:p>
            <a:pPr algn="l"/>
            <a:r>
              <a:rPr lang="en-US" dirty="0"/>
              <a:t>15.</a:t>
            </a:r>
            <a:r>
              <a:rPr lang="zh-CN" altLang="en-US" dirty="0"/>
              <a:t>资金可持续</a:t>
            </a:r>
            <a:br>
              <a:rPr lang="zh-CN" altLang="en-US" dirty="0"/>
            </a:br>
            <a:r>
              <a:rPr lang="zh-CN" altLang="en-US" sz="3200" dirty="0"/>
              <a:t>晒晒捐赠或者订单等</a:t>
            </a:r>
            <a:br>
              <a:rPr lang="en-US" altLang="zh-CN" dirty="0"/>
            </a:br>
            <a:r>
              <a:rPr lang="zh-CN" altLang="en-US" sz="3200" dirty="0"/>
              <a:t>创意组和创业组仍然是写财务营收及预测、股权架构及融资</a:t>
            </a:r>
            <a:br>
              <a:rPr lang="en-US" altLang="zh-CN" sz="32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endParaRPr lang="zh-CN" alt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589280" y="1052830"/>
            <a:ext cx="7820025" cy="2002155"/>
          </a:xfrm>
        </p:spPr>
        <p:txBody>
          <a:bodyPr anchor="ctr" anchorCtr="0"/>
          <a:lstStyle/>
          <a:p>
            <a:pPr algn="l"/>
            <a:r>
              <a:rPr lang="en-US" dirty="0"/>
              <a:t>16.</a:t>
            </a:r>
            <a:r>
              <a:rPr lang="zh-CN" altLang="en-US" dirty="0"/>
              <a:t>公益维度</a:t>
            </a:r>
            <a:br>
              <a:rPr lang="en-US" altLang="zh-CN" dirty="0"/>
            </a:br>
            <a:r>
              <a:rPr lang="zh-CN" altLang="en-US" sz="3200" dirty="0"/>
              <a:t>带动就业与社会效益；创意和创业组变成社会价值</a:t>
            </a:r>
            <a:br>
              <a:rPr lang="en-US" altLang="zh-CN" sz="3200" dirty="0"/>
            </a:br>
            <a:br>
              <a:rPr lang="en-US" altLang="zh-CN" sz="3200" dirty="0"/>
            </a:br>
            <a:br>
              <a:rPr lang="en-US" altLang="zh-CN" sz="1600" dirty="0"/>
            </a:br>
            <a:endParaRPr lang="zh-CN" alt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B6CF3BA-F038-A6D0-A874-02ED8FA3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 anchorCtr="0"/>
          <a:lstStyle/>
          <a:p>
            <a:pPr algn="l"/>
            <a:r>
              <a:rPr lang="en-US" altLang="zh-CN" dirty="0"/>
              <a:t>17</a:t>
            </a:r>
            <a:r>
              <a:rPr lang="zh-CN" altLang="en-US" dirty="0"/>
              <a:t>个人成长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DD1BC65-E540-4CCB-841B-B4BFCF199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anchor="t" anchorCtr="0"/>
          <a:lstStyle/>
          <a:p>
            <a:r>
              <a:rPr lang="zh-CN" altLang="en-US" dirty="0"/>
              <a:t>体现学科建设与人才培养效果</a:t>
            </a:r>
          </a:p>
          <a:p>
            <a:r>
              <a:rPr lang="zh-CN" altLang="en-US" dirty="0">
                <a:sym typeface="宋体" panose="02010600030101010101" pitchFamily="2" charset="-122"/>
              </a:rPr>
              <a:t>新工科、新医科、新闻科等概念与产教融合、科教融汇、多学科交叉、专创融合相关发展情况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457200" y="836613"/>
            <a:ext cx="8229600" cy="1143000"/>
          </a:xfrm>
        </p:spPr>
        <p:txBody>
          <a:bodyPr anchor="ctr" anchorCtr="0"/>
          <a:lstStyle/>
          <a:p>
            <a:pPr algn="l"/>
            <a:r>
              <a:rPr lang="en-US" dirty="0"/>
              <a:t>18.</a:t>
            </a:r>
            <a:r>
              <a:rPr lang="zh-CN" altLang="en-US" dirty="0"/>
              <a:t>未来发展规划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340</Words>
  <Application>Microsoft Office PowerPoint</Application>
  <PresentationFormat>全屏显示(4:3)</PresentationFormat>
  <Paragraphs>31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宋体</vt:lpstr>
      <vt:lpstr>Arial</vt:lpstr>
      <vt:lpstr>黑体</vt:lpstr>
      <vt:lpstr>默认设计模板</vt:lpstr>
      <vt:lpstr>1_默认设计模板</vt:lpstr>
      <vt:lpstr>PowerPoint 演示文稿</vt:lpstr>
      <vt:lpstr>1.项目概述 </vt:lpstr>
      <vt:lpstr>2.项目起源 </vt:lpstr>
      <vt:lpstr>3.项目背景 （政策背景与必要性）</vt:lpstr>
      <vt:lpstr>4.实践过程 调研经过 寻找痛点 研发历程 </vt:lpstr>
      <vt:lpstr>5.解决方案/公益模式</vt:lpstr>
      <vt:lpstr>6.核心技术（至少3项）</vt:lpstr>
      <vt:lpstr>7.产品测试        </vt:lpstr>
      <vt:lpstr>8.竞品分析： 对比市面同类产品（公益组可不放）  </vt:lpstr>
      <vt:lpstr>9.商业模式/推广模式</vt:lpstr>
      <vt:lpstr>10.公益案例或服务案例 建议不少于3张，突出合同订单和现场照片   </vt:lpstr>
      <vt:lpstr>11.项目公益实效与模式归纳 从帮扶人数等进行总结</vt:lpstr>
      <vt:lpstr>12.政府、专家及第三方认可</vt:lpstr>
      <vt:lpstr>13.媒体报道</vt:lpstr>
      <vt:lpstr>14.核心团队、顾问团队 2张，院士或大教授领衔</vt:lpstr>
      <vt:lpstr>15.资金可持续 晒晒捐赠或者订单等 创意组和创业组仍然是写财务营收及预测、股权架构及融资     </vt:lpstr>
      <vt:lpstr>16.公益维度 带动就业与社会效益；创意和创业组变成社会价值   </vt:lpstr>
      <vt:lpstr>17个人成长</vt:lpstr>
      <vt:lpstr>18.未来发展规划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项目名称</dc:title>
  <dc:creator>HP</dc:creator>
  <cp:lastModifiedBy>sora kasugano</cp:lastModifiedBy>
  <cp:revision>24</cp:revision>
  <dcterms:created xsi:type="dcterms:W3CDTF">2024-11-20T07:20:00Z</dcterms:created>
  <dcterms:modified xsi:type="dcterms:W3CDTF">2025-12-04T05:14:22Z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04CA824DD07943A0AD641DA2AEF5089B_12</vt:lpwstr>
  </property>
</Properties>
</file>